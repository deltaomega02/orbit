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59" r:id="rId6"/>
    <p:sldId id="260" r:id="rId7"/>
    <p:sldId id="262" r:id="rId8"/>
    <p:sldId id="264" r:id="rId9"/>
    <p:sldId id="265" r:id="rId10"/>
    <p:sldId id="278" r:id="rId11"/>
    <p:sldId id="280" r:id="rId12"/>
    <p:sldId id="282" r:id="rId13"/>
    <p:sldId id="268" r:id="rId14"/>
    <p:sldId id="269" r:id="rId15"/>
    <p:sldId id="270" r:id="rId16"/>
    <p:sldId id="283" r:id="rId17"/>
    <p:sldId id="27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B4/c74TT9TX9tW9012xaeuuDe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9C5FFD-8B3B-43AF-B028-0B97AE8B4569}">
  <a:tblStyle styleId="{389C5FFD-8B3B-43AF-B028-0B97AE8B4569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0C955D82-03AD-ABD9-D45A-76F09CB0B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>
            <a:extLst>
              <a:ext uri="{FF2B5EF4-FFF2-40B4-BE49-F238E27FC236}">
                <a16:creationId xmlns:a16="http://schemas.microsoft.com/office/drawing/2014/main" id="{6C0F7A63-9136-633D-D068-BE76DD79C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>
            <a:extLst>
              <a:ext uri="{FF2B5EF4-FFF2-40B4-BE49-F238E27FC236}">
                <a16:creationId xmlns:a16="http://schemas.microsoft.com/office/drawing/2014/main" id="{BFC4DCBA-B484-8444-6D06-38BB4B3E4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702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B2388F97-1086-3BEA-5C97-B705563C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>
            <a:extLst>
              <a:ext uri="{FF2B5EF4-FFF2-40B4-BE49-F238E27FC236}">
                <a16:creationId xmlns:a16="http://schemas.microsoft.com/office/drawing/2014/main" id="{E77F98A6-8F3B-570D-DDF1-F88206227B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>
            <a:extLst>
              <a:ext uri="{FF2B5EF4-FFF2-40B4-BE49-F238E27FC236}">
                <a16:creationId xmlns:a16="http://schemas.microsoft.com/office/drawing/2014/main" id="{B4060187-8A88-2F34-5CBC-F240CB05D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1545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>
          <a:extLst>
            <a:ext uri="{FF2B5EF4-FFF2-40B4-BE49-F238E27FC236}">
              <a16:creationId xmlns:a16="http://schemas.microsoft.com/office/drawing/2014/main" id="{1DBC1D9A-F8F5-792D-83B7-71EA2631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>
            <a:extLst>
              <a:ext uri="{FF2B5EF4-FFF2-40B4-BE49-F238E27FC236}">
                <a16:creationId xmlns:a16="http://schemas.microsoft.com/office/drawing/2014/main" id="{1D5C92D5-9539-01C6-0687-2153B3054E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:notes">
            <a:extLst>
              <a:ext uri="{FF2B5EF4-FFF2-40B4-BE49-F238E27FC236}">
                <a16:creationId xmlns:a16="http://schemas.microsoft.com/office/drawing/2014/main" id="{B67D1DDD-1F18-0B87-A9E3-2E7AB787B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4198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2B1BBFB9-F5F1-518B-D80B-B00F5965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>
            <a:extLst>
              <a:ext uri="{FF2B5EF4-FFF2-40B4-BE49-F238E27FC236}">
                <a16:creationId xmlns:a16="http://schemas.microsoft.com/office/drawing/2014/main" id="{25F9FDD4-0287-D5DA-FF38-D2D0D85D4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>
            <a:extLst>
              <a:ext uri="{FF2B5EF4-FFF2-40B4-BE49-F238E27FC236}">
                <a16:creationId xmlns:a16="http://schemas.microsoft.com/office/drawing/2014/main" id="{C01526E9-994D-AE77-309F-C87A1FD55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3952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/>
          <p:nvPr/>
        </p:nvSpPr>
        <p:spPr>
          <a:xfrm>
            <a:off x="0" y="6321918"/>
            <a:ext cx="12192000" cy="540000"/>
          </a:xfrm>
          <a:prstGeom prst="rect">
            <a:avLst/>
          </a:prstGeom>
          <a:solidFill>
            <a:srgbClr val="A99A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956829" y="6409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20" descr="그래픽, 폰트, 그래픽 디자인, 스크린샷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9640" y="92360"/>
            <a:ext cx="1800000" cy="65731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38" name="Google Shape;38;p21" descr="그래픽, 폰트, 그래픽 디자인, 스크린샷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17746" y="45983"/>
            <a:ext cx="1800000" cy="6573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" name="Google Shape;39;p21"/>
          <p:cNvCxnSpPr/>
          <p:nvPr/>
        </p:nvCxnSpPr>
        <p:spPr>
          <a:xfrm>
            <a:off x="336000" y="703299"/>
            <a:ext cx="11520000" cy="0"/>
          </a:xfrm>
          <a:prstGeom prst="straightConnector1">
            <a:avLst/>
          </a:prstGeom>
          <a:noFill/>
          <a:ln w="28575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" name="Google Shape;40;p21"/>
          <p:cNvCxnSpPr/>
          <p:nvPr/>
        </p:nvCxnSpPr>
        <p:spPr>
          <a:xfrm>
            <a:off x="417481" y="6445037"/>
            <a:ext cx="11520000" cy="0"/>
          </a:xfrm>
          <a:prstGeom prst="straightConnector1">
            <a:avLst/>
          </a:prstGeom>
          <a:noFill/>
          <a:ln w="12700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369148" y="196639"/>
            <a:ext cx="14093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 cap="non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2025학년도</a:t>
            </a:r>
            <a:endParaRPr sz="1800" b="1" i="0" u="none" strike="noStrike" cap="none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494857" y="1414947"/>
            <a:ext cx="920228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 i="0" u="none" strike="noStrike" cap="non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Capstone Design 팀별 결과보고서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331924" y="196639"/>
            <a:ext cx="15953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 cap="none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2025. 00. 00.</a:t>
            </a:r>
            <a:endParaRPr sz="1800" b="1" i="0" u="none" strike="noStrike" cap="none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73828" y="6380111"/>
            <a:ext cx="1800000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rgbClr val="F6F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학 과 명 :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2873828" y="6455581"/>
            <a:ext cx="2157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rgbClr val="F6F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내용을 입력해주세요.</a:t>
            </a:r>
            <a:endParaRPr sz="1600" b="1" i="0" u="none" strike="noStrike" cap="none">
              <a:solidFill>
                <a:srgbClr val="F6F4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169828" y="6380111"/>
            <a:ext cx="1800000" cy="41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rgbClr val="F6F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지도교수 :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971617" y="6455581"/>
            <a:ext cx="2157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rgbClr val="F6F4F0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내용을 입력해주세요.</a:t>
            </a:r>
            <a:endParaRPr sz="1600" b="1" i="0" u="none" strike="noStrike" cap="none">
              <a:solidFill>
                <a:srgbClr val="F6F4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01" name="Google Shape;101;p1"/>
          <p:cNvGrpSpPr/>
          <p:nvPr/>
        </p:nvGrpSpPr>
        <p:grpSpPr>
          <a:xfrm>
            <a:off x="3771533" y="4308485"/>
            <a:ext cx="5277216" cy="1582548"/>
            <a:chOff x="3983168" y="4124157"/>
            <a:chExt cx="6081977" cy="1582548"/>
          </a:xfrm>
        </p:grpSpPr>
        <p:sp>
          <p:nvSpPr>
            <p:cNvPr id="102" name="Google Shape;102;p1"/>
            <p:cNvSpPr txBox="1"/>
            <p:nvPr/>
          </p:nvSpPr>
          <p:spPr>
            <a:xfrm>
              <a:off x="3983168" y="4124157"/>
              <a:ext cx="1800000" cy="454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 i="0" u="none" strike="noStrike" cap="none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□ 과 제 명 :</a:t>
              </a:r>
              <a:endParaRPr/>
            </a:p>
          </p:txBody>
        </p:sp>
        <p:sp>
          <p:nvSpPr>
            <p:cNvPr id="103" name="Google Shape;103;p1"/>
            <p:cNvSpPr txBox="1"/>
            <p:nvPr/>
          </p:nvSpPr>
          <p:spPr>
            <a:xfrm>
              <a:off x="5900772" y="4209117"/>
              <a:ext cx="4164373" cy="5308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altLang="ko-KR" sz="1800" b="1" dirty="0"/>
                <a:t>Project. Orbit: </a:t>
              </a:r>
              <a:br>
                <a:rPr lang="en-US" altLang="ko-KR" sz="1800" dirty="0"/>
              </a:br>
              <a:r>
                <a:rPr lang="ko-KR" altLang="en-US" sz="1050" dirty="0"/>
                <a:t>내 옷장 속 </a:t>
              </a:r>
              <a:r>
                <a:rPr lang="en-US" altLang="ko-KR" sz="1050" dirty="0"/>
                <a:t>AI </a:t>
              </a:r>
              <a:r>
                <a:rPr lang="ko-KR" altLang="en-US" sz="1050" dirty="0"/>
                <a:t>스타일리스트 </a:t>
              </a:r>
              <a:r>
                <a:rPr lang="en-US" altLang="ko-KR" sz="1050" dirty="0"/>
                <a:t>&amp; </a:t>
              </a:r>
              <a:r>
                <a:rPr lang="ko-KR" altLang="en-US" sz="1050" dirty="0"/>
                <a:t>가상 피팅 시뮬레이터</a:t>
              </a:r>
              <a:endParaRPr lang="ko-KR" altLang="en-US" sz="1800" dirty="0">
                <a:solidFill>
                  <a:srgbClr val="333333"/>
                </a:solidFill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3983168" y="5252413"/>
              <a:ext cx="1800000" cy="454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□ 기업체명 :</a:t>
              </a:r>
              <a:endParaRPr sz="18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5900772" y="5337373"/>
              <a:ext cx="28799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내용을 입력해주세요.</a:t>
              </a:r>
              <a:endParaRPr sz="18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6" name="Google Shape;106;p1"/>
            <p:cNvSpPr txBox="1"/>
            <p:nvPr/>
          </p:nvSpPr>
          <p:spPr>
            <a:xfrm>
              <a:off x="3983168" y="4688285"/>
              <a:ext cx="1800000" cy="4542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□ 팀    명 :</a:t>
              </a:r>
              <a:endParaRPr/>
            </a:p>
          </p:txBody>
        </p:sp>
        <p:sp>
          <p:nvSpPr>
            <p:cNvPr id="107" name="Google Shape;107;p1"/>
            <p:cNvSpPr txBox="1"/>
            <p:nvPr/>
          </p:nvSpPr>
          <p:spPr>
            <a:xfrm>
              <a:off x="5900774" y="4773245"/>
              <a:ext cx="380211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US" altLang="ko-KR" sz="1800" b="1" dirty="0"/>
                <a:t>Team. </a:t>
              </a:r>
              <a:r>
                <a:rPr lang="el-GR" altLang="ko-KR" sz="1800" b="1" dirty="0"/>
                <a:t>ΔΩ (</a:t>
              </a:r>
              <a:r>
                <a:rPr lang="en-US" altLang="ko-KR" sz="1800" b="1" dirty="0"/>
                <a:t>Delta-Omega)</a:t>
              </a:r>
              <a:endParaRPr lang="ko-KR" altLang="en-US" sz="1800" dirty="0">
                <a:solidFill>
                  <a:srgbClr val="333333"/>
                </a:solidFill>
              </a:endParaRPr>
            </a:p>
          </p:txBody>
        </p:sp>
      </p:grp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4617906" y="1936492"/>
            <a:ext cx="2680316" cy="2518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>
            <a:spLocks noGrp="1"/>
          </p:cNvSpPr>
          <p:nvPr>
            <p:ph type="sldNum" idx="12"/>
          </p:nvPr>
        </p:nvSpPr>
        <p:spPr>
          <a:xfrm>
            <a:off x="8956829" y="6409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양식은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지도교수님과의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상의하에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, 구성과 내용 디자인을 자유롭게 변경할 수 있습니다.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None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(단, 표지 및 슬라이드 마스터는 행정자료식별을 위해 그대로 유지)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특히 ‘04. 과제 연구내용 및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결과’의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경우 성과물의 유형에 맞게 목차를 변경하여 사용하세요.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보고서 구성을 위한 AI 기반 참고사이트 </a:t>
            </a:r>
            <a:endParaRPr sz="2000" dirty="0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None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(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AI와의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협업 능력을 위해 활용하되 교수님 지도하에 정보 오류 검증하며 유의하여 활용)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None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Gamma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프리젠테이션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구성 지원  </a:t>
            </a:r>
            <a:endParaRPr sz="2000" dirty="0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None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Canva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: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AI기반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프리젠테이션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제작 사이트 </a:t>
            </a:r>
            <a:endParaRPr sz="2000" dirty="0">
              <a:solidFill>
                <a:srgbClr val="0000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None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Wrtn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카피, 이미지 등 작성(한글 특화)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000"/>
              <a:buNone/>
            </a:pP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Whimsical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생성형 AI 기반 마인드맵 제작(</a:t>
            </a:r>
            <a:r>
              <a:rPr lang="ko-KR" sz="2000" dirty="0" err="1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AI와</a:t>
            </a:r>
            <a:r>
              <a:rPr lang="ko-KR" sz="2000" dirty="0">
                <a:solidFill>
                  <a:srgbClr val="0000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아이디어 회의 가능)</a:t>
            </a:r>
            <a:endParaRPr sz="2000" dirty="0"/>
          </a:p>
        </p:txBody>
      </p:sp>
      <p:sp>
        <p:nvSpPr>
          <p:cNvPr id="115" name="Google Shape;115;p2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A99A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Malgun Gothic"/>
              <a:buNone/>
            </a:pPr>
            <a:r>
              <a:rPr lang="ko-KR" sz="2800" dirty="0">
                <a:solidFill>
                  <a:srgbClr val="0000FF"/>
                </a:solidFill>
              </a:rPr>
              <a:t>팀별 결과보고서 작성 지침</a:t>
            </a:r>
            <a:endParaRPr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/>
        </p:nvSpPr>
        <p:spPr>
          <a:xfrm>
            <a:off x="954408" y="416560"/>
            <a:ext cx="460182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 차</a:t>
            </a:r>
            <a:endParaRPr/>
          </a:p>
        </p:txBody>
      </p:sp>
      <p:grpSp>
        <p:nvGrpSpPr>
          <p:cNvPr id="123" name="Google Shape;123;p3"/>
          <p:cNvGrpSpPr/>
          <p:nvPr/>
        </p:nvGrpSpPr>
        <p:grpSpPr>
          <a:xfrm>
            <a:off x="8558762" y="1620104"/>
            <a:ext cx="1356782" cy="584775"/>
            <a:chOff x="8696960" y="368999"/>
            <a:chExt cx="1356782" cy="584775"/>
          </a:xfrm>
        </p:grpSpPr>
        <p:sp>
          <p:nvSpPr>
            <p:cNvPr id="124" name="Google Shape;124;p3"/>
            <p:cNvSpPr txBox="1"/>
            <p:nvPr/>
          </p:nvSpPr>
          <p:spPr>
            <a:xfrm>
              <a:off x="8696960" y="368999"/>
              <a:ext cx="65915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sz="32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9356115" y="461331"/>
              <a:ext cx="69762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팀원</a:t>
              </a:r>
              <a:endParaRPr/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1118688" y="1620105"/>
            <a:ext cx="2350568" cy="998797"/>
            <a:chOff x="2633408" y="1210088"/>
            <a:chExt cx="2350568" cy="998797"/>
          </a:xfrm>
        </p:grpSpPr>
        <p:grpSp>
          <p:nvGrpSpPr>
            <p:cNvPr id="127" name="Google Shape;127;p3"/>
            <p:cNvGrpSpPr/>
            <p:nvPr/>
          </p:nvGrpSpPr>
          <p:grpSpPr>
            <a:xfrm>
              <a:off x="2633408" y="1210088"/>
              <a:ext cx="2350568" cy="584775"/>
              <a:chOff x="2692400" y="369000"/>
              <a:chExt cx="2350568" cy="584775"/>
            </a:xfrm>
          </p:grpSpPr>
          <p:sp>
            <p:nvSpPr>
              <p:cNvPr id="128" name="Google Shape;128;p3"/>
              <p:cNvSpPr txBox="1"/>
              <p:nvPr/>
            </p:nvSpPr>
            <p:spPr>
              <a:xfrm>
                <a:off x="2692400" y="369000"/>
                <a:ext cx="65915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3200" b="1">
                    <a:solidFill>
                      <a:srgbClr val="3333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01</a:t>
                </a:r>
                <a:endParaRPr sz="32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9" name="Google Shape;129;p3"/>
              <p:cNvSpPr txBox="1"/>
              <p:nvPr/>
            </p:nvSpPr>
            <p:spPr>
              <a:xfrm>
                <a:off x="3229651" y="461332"/>
                <a:ext cx="181331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333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목표</a:t>
                </a:r>
                <a:endParaRPr/>
              </a:p>
            </p:txBody>
          </p:sp>
        </p:grpSp>
        <p:sp>
          <p:nvSpPr>
            <p:cNvPr id="130" name="Google Shape;130;p3"/>
            <p:cNvSpPr txBox="1"/>
            <p:nvPr/>
          </p:nvSpPr>
          <p:spPr>
            <a:xfrm>
              <a:off x="2962985" y="1794861"/>
              <a:ext cx="752129" cy="414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목표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5226652" y="1620104"/>
            <a:ext cx="1769396" cy="1368130"/>
            <a:chOff x="6023615" y="1210087"/>
            <a:chExt cx="1769396" cy="1368130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6023615" y="1210087"/>
              <a:ext cx="1613262" cy="584775"/>
              <a:chOff x="5689600" y="368999"/>
              <a:chExt cx="1613262" cy="584775"/>
            </a:xfrm>
          </p:grpSpPr>
          <p:sp>
            <p:nvSpPr>
              <p:cNvPr id="133" name="Google Shape;133;p3"/>
              <p:cNvSpPr txBox="1"/>
              <p:nvPr/>
            </p:nvSpPr>
            <p:spPr>
              <a:xfrm>
                <a:off x="5689600" y="368999"/>
                <a:ext cx="659156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3200" b="1">
                    <a:solidFill>
                      <a:srgbClr val="3333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02</a:t>
                </a:r>
                <a:endParaRPr sz="32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3"/>
              <p:cNvSpPr txBox="1"/>
              <p:nvPr/>
            </p:nvSpPr>
            <p:spPr>
              <a:xfrm>
                <a:off x="6348755" y="461331"/>
                <a:ext cx="9541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333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성과물</a:t>
                </a:r>
                <a:endParaRPr/>
              </a:p>
            </p:txBody>
          </p:sp>
        </p:grpSp>
        <p:sp>
          <p:nvSpPr>
            <p:cNvPr id="135" name="Google Shape;135;p3"/>
            <p:cNvSpPr txBox="1"/>
            <p:nvPr/>
          </p:nvSpPr>
          <p:spPr>
            <a:xfrm>
              <a:off x="6353193" y="1794861"/>
              <a:ext cx="1439818" cy="783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성과물 유형</a:t>
              </a:r>
              <a:endParaRPr sz="16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성과물 소개</a:t>
              </a:r>
              <a:endParaRPr/>
            </a:p>
          </p:txBody>
        </p:sp>
      </p:grpSp>
      <p:grpSp>
        <p:nvGrpSpPr>
          <p:cNvPr id="136" name="Google Shape;136;p3"/>
          <p:cNvGrpSpPr/>
          <p:nvPr/>
        </p:nvGrpSpPr>
        <p:grpSpPr>
          <a:xfrm>
            <a:off x="5226652" y="3839017"/>
            <a:ext cx="2472472" cy="584775"/>
            <a:chOff x="5689600" y="3429000"/>
            <a:chExt cx="2472472" cy="584775"/>
          </a:xfrm>
        </p:grpSpPr>
        <p:sp>
          <p:nvSpPr>
            <p:cNvPr id="137" name="Google Shape;137;p3"/>
            <p:cNvSpPr txBox="1"/>
            <p:nvPr/>
          </p:nvSpPr>
          <p:spPr>
            <a:xfrm>
              <a:off x="5689600" y="3429000"/>
              <a:ext cx="65915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05</a:t>
              </a:r>
              <a:endParaRPr sz="32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3"/>
            <p:cNvSpPr txBox="1"/>
            <p:nvPr/>
          </p:nvSpPr>
          <p:spPr>
            <a:xfrm>
              <a:off x="6348755" y="3521332"/>
              <a:ext cx="1813317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예산집행 현황</a:t>
              </a:r>
              <a:endParaRPr/>
            </a:p>
          </p:txBody>
        </p:sp>
      </p:grpSp>
      <p:grpSp>
        <p:nvGrpSpPr>
          <p:cNvPr id="139" name="Google Shape;139;p3"/>
          <p:cNvGrpSpPr/>
          <p:nvPr/>
        </p:nvGrpSpPr>
        <p:grpSpPr>
          <a:xfrm>
            <a:off x="8558762" y="3839017"/>
            <a:ext cx="3208250" cy="584775"/>
            <a:chOff x="8696960" y="3429000"/>
            <a:chExt cx="3208250" cy="584775"/>
          </a:xfrm>
        </p:grpSpPr>
        <p:sp>
          <p:nvSpPr>
            <p:cNvPr id="140" name="Google Shape;140;p3"/>
            <p:cNvSpPr txBox="1"/>
            <p:nvPr/>
          </p:nvSpPr>
          <p:spPr>
            <a:xfrm>
              <a:off x="8696960" y="3429000"/>
              <a:ext cx="659156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32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06</a:t>
              </a:r>
              <a:endParaRPr sz="32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9232684" y="3536721"/>
              <a:ext cx="2672526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20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기대효과 및 개선방향</a:t>
              </a:r>
              <a:endParaRPr/>
            </a:p>
          </p:txBody>
        </p:sp>
      </p:grpSp>
      <p:grpSp>
        <p:nvGrpSpPr>
          <p:cNvPr id="142" name="Google Shape;142;p3"/>
          <p:cNvGrpSpPr/>
          <p:nvPr/>
        </p:nvGrpSpPr>
        <p:grpSpPr>
          <a:xfrm>
            <a:off x="1118688" y="3839017"/>
            <a:ext cx="3511218" cy="2400657"/>
            <a:chOff x="1118688" y="3839017"/>
            <a:chExt cx="3511218" cy="2400657"/>
          </a:xfrm>
        </p:grpSpPr>
        <p:grpSp>
          <p:nvGrpSpPr>
            <p:cNvPr id="143" name="Google Shape;143;p3"/>
            <p:cNvGrpSpPr/>
            <p:nvPr/>
          </p:nvGrpSpPr>
          <p:grpSpPr>
            <a:xfrm>
              <a:off x="1118688" y="3839017"/>
              <a:ext cx="3511218" cy="584775"/>
              <a:chOff x="2692400" y="3429000"/>
              <a:chExt cx="3511218" cy="584775"/>
            </a:xfrm>
          </p:grpSpPr>
          <p:sp>
            <p:nvSpPr>
              <p:cNvPr id="144" name="Google Shape;144;p3"/>
              <p:cNvSpPr txBox="1"/>
              <p:nvPr/>
            </p:nvSpPr>
            <p:spPr>
              <a:xfrm>
                <a:off x="2692400" y="3429000"/>
                <a:ext cx="659156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3200" b="1">
                    <a:solidFill>
                      <a:srgbClr val="3333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04</a:t>
                </a:r>
                <a:endParaRPr sz="3200" b="1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5" name="Google Shape;145;p3"/>
              <p:cNvSpPr txBox="1"/>
              <p:nvPr/>
            </p:nvSpPr>
            <p:spPr>
              <a:xfrm>
                <a:off x="3351555" y="3536721"/>
                <a:ext cx="285206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2000" b="1">
                    <a:solidFill>
                      <a:srgbClr val="333333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과제 연구 내용 및 결과</a:t>
                </a:r>
                <a:endParaRPr/>
              </a:p>
            </p:txBody>
          </p:sp>
        </p:grpSp>
        <p:sp>
          <p:nvSpPr>
            <p:cNvPr id="146" name="Google Shape;146;p3"/>
            <p:cNvSpPr txBox="1"/>
            <p:nvPr/>
          </p:nvSpPr>
          <p:spPr>
            <a:xfrm>
              <a:off x="1448265" y="4423792"/>
              <a:ext cx="2268570" cy="18158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연구내용 </a:t>
              </a:r>
              <a:endParaRPr sz="16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제작방법</a:t>
              </a:r>
              <a:endParaRPr sz="16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연구결과</a:t>
              </a:r>
              <a:endParaRPr sz="16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- 기타 연구성과물</a:t>
              </a:r>
              <a:endParaRPr sz="16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>
                  <a:solidFill>
                    <a:srgbClr val="3333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(작품, 사진, 논문 등)</a:t>
              </a:r>
              <a:endParaRPr/>
            </a:p>
          </p:txBody>
        </p:sp>
      </p:grpSp>
      <p:sp>
        <p:nvSpPr>
          <p:cNvPr id="147" name="Google Shape;147;p3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A99A6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" name="Google Shape;14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399460" y="224146"/>
            <a:ext cx="291297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01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프로젝트의 목표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037231-2092-4EB2-83A3-D13F08ED12E3}"/>
              </a:ext>
            </a:extLst>
          </p:cNvPr>
          <p:cNvSpPr/>
          <p:nvPr/>
        </p:nvSpPr>
        <p:spPr>
          <a:xfrm>
            <a:off x="694521" y="866775"/>
            <a:ext cx="3208637" cy="5495925"/>
          </a:xfrm>
          <a:prstGeom prst="rect">
            <a:avLst/>
          </a:prstGeom>
          <a:solidFill>
            <a:schemeClr val="bg1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333333"/>
                </a:solidFill>
              </a:rPr>
              <a:t>기술적 목표</a:t>
            </a:r>
            <a:r>
              <a:rPr lang="en-US" altLang="ko-KR" sz="1200" b="1" dirty="0">
                <a:solidFill>
                  <a:srgbClr val="333333"/>
                </a:solidFill>
              </a:rPr>
              <a:t>: </a:t>
            </a:r>
            <a:br>
              <a:rPr lang="en-US" altLang="ko-KR" sz="1200" b="1" dirty="0">
                <a:solidFill>
                  <a:srgbClr val="333333"/>
                </a:solidFill>
              </a:rPr>
            </a:br>
            <a:r>
              <a:rPr lang="en-US" altLang="ko-KR" sz="1200" b="1" dirty="0">
                <a:solidFill>
                  <a:srgbClr val="333333"/>
                </a:solidFill>
              </a:rPr>
              <a:t>‘</a:t>
            </a:r>
            <a:r>
              <a:rPr lang="ko-KR" altLang="en-US" sz="1200" b="1" dirty="0">
                <a:solidFill>
                  <a:srgbClr val="333333"/>
                </a:solidFill>
              </a:rPr>
              <a:t>단절된 기술의</a:t>
            </a:r>
            <a:r>
              <a:rPr lang="en-US" altLang="ko-KR" sz="1200" b="1" dirty="0">
                <a:solidFill>
                  <a:srgbClr val="333333"/>
                </a:solidFill>
              </a:rPr>
              <a:t>’</a:t>
            </a:r>
            <a:r>
              <a:rPr lang="ko-KR" altLang="en-US" sz="1200" b="1" dirty="0">
                <a:solidFill>
                  <a:srgbClr val="333333"/>
                </a:solidFill>
              </a:rPr>
              <a:t> 통합</a:t>
            </a:r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현재 시장의 서비스들이 </a:t>
            </a:r>
            <a:r>
              <a:rPr lang="ko-KR" altLang="en-US" sz="1000" b="1" dirty="0">
                <a:solidFill>
                  <a:schemeClr val="tx1"/>
                </a:solidFill>
              </a:rPr>
              <a:t>각기 다른 영역</a:t>
            </a:r>
            <a:r>
              <a:rPr lang="ko-KR" altLang="en-US" sz="1000" dirty="0">
                <a:solidFill>
                  <a:schemeClr val="tx1"/>
                </a:solidFill>
              </a:rPr>
              <a:t>에 머물러 있는 한계를 극복하고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우리는 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하나의 완전한 경험</a:t>
            </a:r>
            <a:r>
              <a:rPr lang="en-US" altLang="ko-KR" sz="1000" dirty="0">
                <a:solidFill>
                  <a:schemeClr val="tx1"/>
                </a:solidFill>
              </a:rPr>
              <a:t>＇</a:t>
            </a:r>
            <a:r>
              <a:rPr lang="ko-KR" altLang="en-US" sz="1000" dirty="0">
                <a:solidFill>
                  <a:schemeClr val="tx1"/>
                </a:solidFill>
              </a:rPr>
              <a:t>을 구현하는 </a:t>
            </a:r>
            <a:r>
              <a:rPr lang="ko-KR" altLang="en-US" sz="1000" b="1" dirty="0">
                <a:solidFill>
                  <a:schemeClr val="tx1"/>
                </a:solidFill>
              </a:rPr>
              <a:t>기술적 </a:t>
            </a:r>
            <a:r>
              <a:rPr lang="el-GR" altLang="ko-KR" sz="1000" b="1" dirty="0">
                <a:solidFill>
                  <a:schemeClr val="tx1"/>
                </a:solidFill>
              </a:rPr>
              <a:t>Δ(</a:t>
            </a:r>
            <a:r>
              <a:rPr lang="ko-KR" altLang="en-US" sz="1000" b="1" dirty="0">
                <a:solidFill>
                  <a:schemeClr val="tx1"/>
                </a:solidFill>
              </a:rPr>
              <a:t>변화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를 만들어 냅니다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</a:rPr>
              <a:t>기술 스택의 융합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객체인식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의류추출</a:t>
            </a:r>
            <a:r>
              <a:rPr lang="en-US" altLang="ko-KR" sz="1000" dirty="0">
                <a:solidFill>
                  <a:schemeClr val="tx1"/>
                </a:solidFill>
              </a:rPr>
              <a:t>), </a:t>
            </a:r>
            <a:r>
              <a:rPr lang="ko-KR" altLang="en-US" sz="1000" dirty="0">
                <a:solidFill>
                  <a:schemeClr val="tx1"/>
                </a:solidFill>
              </a:rPr>
              <a:t>추천 시스템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코디 제안</a:t>
            </a:r>
            <a:r>
              <a:rPr lang="en-US" altLang="ko-KR" sz="1000" dirty="0">
                <a:solidFill>
                  <a:schemeClr val="tx1"/>
                </a:solidFill>
              </a:rPr>
              <a:t>), </a:t>
            </a:r>
            <a:r>
              <a:rPr lang="ko-KR" altLang="en-US" sz="1000" dirty="0">
                <a:solidFill>
                  <a:schemeClr val="tx1"/>
                </a:solidFill>
              </a:rPr>
              <a:t>그리고 생성형 </a:t>
            </a:r>
            <a:r>
              <a:rPr lang="en-US" altLang="ko-KR" sz="1000" dirty="0">
                <a:solidFill>
                  <a:schemeClr val="tx1"/>
                </a:solidFill>
              </a:rPr>
              <a:t>AI(</a:t>
            </a:r>
            <a:r>
              <a:rPr lang="ko-KR" altLang="en-US" sz="1000" dirty="0">
                <a:solidFill>
                  <a:schemeClr val="tx1"/>
                </a:solidFill>
              </a:rPr>
              <a:t>가상 피팅</a:t>
            </a:r>
            <a:r>
              <a:rPr lang="en-US" altLang="ko-KR" sz="1000" dirty="0">
                <a:solidFill>
                  <a:schemeClr val="tx1"/>
                </a:solidFill>
              </a:rPr>
              <a:t>) </a:t>
            </a:r>
            <a:r>
              <a:rPr lang="ko-KR" altLang="en-US" sz="1000" dirty="0">
                <a:solidFill>
                  <a:schemeClr val="tx1"/>
                </a:solidFill>
              </a:rPr>
              <a:t>기술을 유기적으로 결합하여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데이터가 </a:t>
            </a:r>
            <a:r>
              <a:rPr lang="ko-KR" altLang="en-US" sz="1000" dirty="0" err="1">
                <a:solidFill>
                  <a:schemeClr val="tx1"/>
                </a:solidFill>
              </a:rPr>
              <a:t>끊김없이</a:t>
            </a:r>
            <a:r>
              <a:rPr lang="ko-KR" altLang="en-US" sz="1000" dirty="0">
                <a:solidFill>
                  <a:schemeClr val="tx1"/>
                </a:solidFill>
              </a:rPr>
              <a:t> 흐르는 파이프라인을 구축합니다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</a:rPr>
              <a:t>핵심 기술의 내재화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Google</a:t>
            </a:r>
            <a:r>
              <a:rPr lang="ko-KR" altLang="en-US" sz="1000" dirty="0">
                <a:solidFill>
                  <a:schemeClr val="tx1"/>
                </a:solidFill>
              </a:rPr>
              <a:t>의 </a:t>
            </a:r>
            <a:r>
              <a:rPr lang="en-US" altLang="ko-KR" sz="1000" dirty="0">
                <a:solidFill>
                  <a:schemeClr val="tx1"/>
                </a:solidFill>
              </a:rPr>
              <a:t>Gemini</a:t>
            </a:r>
            <a:r>
              <a:rPr lang="ko-KR" altLang="en-US" sz="1000" dirty="0">
                <a:solidFill>
                  <a:schemeClr val="tx1"/>
                </a:solidFill>
              </a:rPr>
              <a:t>를 성공적으로 서비스에 적용하여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사용자의 체형과 자세까지 고려한 초현실적이고 사실적인 가상 피팅 결과물을 안정적으로 생성합니다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856130" y="989813"/>
            <a:ext cx="2873064" cy="2439187"/>
          </a:xfrm>
          <a:prstGeom prst="rect">
            <a:avLst/>
          </a:prstGeom>
          <a:solidFill>
            <a:schemeClr val="bg1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DCC67C8-8AF5-C412-92FC-9FA6F1904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84" y="974756"/>
            <a:ext cx="2975711" cy="245424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CB955B-BAA5-75DD-3633-50C21F0FA44E}"/>
              </a:ext>
            </a:extLst>
          </p:cNvPr>
          <p:cNvSpPr/>
          <p:nvPr/>
        </p:nvSpPr>
        <p:spPr>
          <a:xfrm>
            <a:off x="4566252" y="866775"/>
            <a:ext cx="3208637" cy="5495925"/>
          </a:xfrm>
          <a:prstGeom prst="rect">
            <a:avLst/>
          </a:prstGeom>
          <a:solidFill>
            <a:schemeClr val="bg1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333333"/>
                </a:solidFill>
              </a:rPr>
              <a:t>사용자 경험</a:t>
            </a:r>
            <a:r>
              <a:rPr lang="en-US" altLang="ko-KR" sz="1200" b="1" dirty="0">
                <a:solidFill>
                  <a:srgbClr val="333333"/>
                </a:solidFill>
              </a:rPr>
              <a:t>(UX) </a:t>
            </a:r>
            <a:r>
              <a:rPr lang="ko-KR" altLang="en-US" sz="1200" b="1" dirty="0">
                <a:solidFill>
                  <a:srgbClr val="333333"/>
                </a:solidFill>
              </a:rPr>
              <a:t>목표</a:t>
            </a:r>
            <a:r>
              <a:rPr lang="en-US" altLang="ko-KR" sz="1200" b="1" dirty="0">
                <a:solidFill>
                  <a:srgbClr val="333333"/>
                </a:solidFill>
              </a:rPr>
              <a:t>: </a:t>
            </a:r>
            <a:br>
              <a:rPr lang="en-US" altLang="ko-KR" sz="1200" b="1" dirty="0">
                <a:solidFill>
                  <a:srgbClr val="333333"/>
                </a:solidFill>
              </a:rPr>
            </a:br>
            <a:r>
              <a:rPr lang="en-US" altLang="ko-KR" sz="1200" b="1" dirty="0">
                <a:solidFill>
                  <a:srgbClr val="333333"/>
                </a:solidFill>
              </a:rPr>
              <a:t>‘</a:t>
            </a:r>
            <a:r>
              <a:rPr lang="ko-KR" altLang="en-US" sz="1200" b="1" dirty="0">
                <a:solidFill>
                  <a:srgbClr val="333333"/>
                </a:solidFill>
              </a:rPr>
              <a:t>단절된 경험</a:t>
            </a:r>
            <a:r>
              <a:rPr lang="en-US" altLang="ko-KR" sz="1200" b="1" dirty="0">
                <a:solidFill>
                  <a:srgbClr val="333333"/>
                </a:solidFill>
              </a:rPr>
              <a:t>’</a:t>
            </a:r>
            <a:r>
              <a:rPr lang="ko-KR" altLang="en-US" sz="1200" b="1" dirty="0">
                <a:solidFill>
                  <a:srgbClr val="333333"/>
                </a:solidFill>
              </a:rPr>
              <a:t>의 연결</a:t>
            </a:r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현재 시장은 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</a:rPr>
              <a:t>코디 추천</a:t>
            </a:r>
            <a:r>
              <a:rPr lang="en-US" altLang="ko-KR" sz="1000" dirty="0">
                <a:solidFill>
                  <a:schemeClr val="tx1"/>
                </a:solidFill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</a:rPr>
              <a:t>과 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</a:rPr>
              <a:t>가상 피팅</a:t>
            </a:r>
            <a:r>
              <a:rPr lang="en-US" altLang="ko-KR" sz="1000" dirty="0">
                <a:solidFill>
                  <a:schemeClr val="tx1"/>
                </a:solidFill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</a:rPr>
              <a:t>의 경험이 명확히 단절되어 있습니다 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r>
              <a:rPr lang="en-US" altLang="ko-KR" sz="1000" dirty="0" err="1">
                <a:solidFill>
                  <a:schemeClr val="tx1"/>
                </a:solidFill>
              </a:rPr>
              <a:t>Project.Orbit</a:t>
            </a:r>
            <a:r>
              <a:rPr lang="ko-KR" altLang="en-US" sz="1000" dirty="0">
                <a:solidFill>
                  <a:schemeClr val="tx1"/>
                </a:solidFill>
              </a:rPr>
              <a:t>의 핵심 목표는 이 </a:t>
            </a:r>
            <a:r>
              <a:rPr lang="ko-KR" altLang="en-US" sz="1000" b="1" dirty="0">
                <a:solidFill>
                  <a:schemeClr val="tx1"/>
                </a:solidFill>
              </a:rPr>
              <a:t>두 경험을 하나의 흐름</a:t>
            </a:r>
            <a:r>
              <a:rPr lang="ko-KR" altLang="en-US" sz="1000" dirty="0">
                <a:solidFill>
                  <a:schemeClr val="tx1"/>
                </a:solidFill>
              </a:rPr>
              <a:t>으로 완벽하게 연결하여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기존 시장에 없던 가장 완성도 높은 퍼스널 스타일링 경험을 제공하는 것입니다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solidFill>
                  <a:schemeClr val="tx1"/>
                </a:solidFill>
              </a:rPr>
              <a:t>하나의 완성된 경험 제공</a:t>
            </a:r>
            <a:r>
              <a:rPr lang="en-US" altLang="ko-KR" sz="1000" b="1" dirty="0">
                <a:solidFill>
                  <a:schemeClr val="tx1"/>
                </a:solidFill>
              </a:rPr>
              <a:t>: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내 옷장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관리에서 </a:t>
            </a:r>
            <a:r>
              <a:rPr lang="en-US" altLang="ko-KR" sz="1000" dirty="0">
                <a:solidFill>
                  <a:schemeClr val="tx1"/>
                </a:solidFill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</a:rPr>
              <a:t>코디 추천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그리고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내 모습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에 직접 입어보는 가상 피팅까지의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과정을 단 하나의 앱에서 완결하여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파편화된 사용자 경험의 문제를 해결합니다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endParaRPr lang="en-US" altLang="ko-KR" sz="10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000" b="1" dirty="0">
                <a:solidFill>
                  <a:schemeClr val="tx1"/>
                </a:solidFill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</a:rPr>
              <a:t>아이디어</a:t>
            </a:r>
            <a:r>
              <a:rPr lang="en-US" altLang="ko-KR" sz="1000" b="1" dirty="0">
                <a:solidFill>
                  <a:schemeClr val="tx1"/>
                </a:solidFill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</a:rPr>
              <a:t>를 </a:t>
            </a:r>
            <a:r>
              <a:rPr lang="en-US" altLang="ko-KR" sz="1000" b="1" dirty="0">
                <a:solidFill>
                  <a:schemeClr val="tx1"/>
                </a:solidFill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</a:rPr>
              <a:t>시각적 확신</a:t>
            </a:r>
            <a:r>
              <a:rPr lang="en-US" altLang="ko-KR" sz="1000" b="1" dirty="0">
                <a:solidFill>
                  <a:schemeClr val="tx1"/>
                </a:solidFill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</a:rPr>
              <a:t>으로 전환</a:t>
            </a:r>
            <a:r>
              <a:rPr lang="en-US" altLang="ko-KR" sz="1000" b="1" dirty="0">
                <a:solidFill>
                  <a:schemeClr val="tx1"/>
                </a:solidFill>
              </a:rPr>
              <a:t>: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기존 서비스는 옷 이미지를 조합한 콜라주 형태의 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아이디어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제시에 그치지 않습니다</a:t>
            </a:r>
            <a:r>
              <a:rPr lang="en-US" altLang="ko-KR" sz="1000" dirty="0">
                <a:solidFill>
                  <a:schemeClr val="tx1"/>
                </a:solidFill>
              </a:rPr>
              <a:t>.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우리는 </a:t>
            </a:r>
            <a:r>
              <a:rPr lang="en-US" altLang="ko-KR" sz="1000" dirty="0">
                <a:solidFill>
                  <a:schemeClr val="tx1"/>
                </a:solidFill>
              </a:rPr>
              <a:t>AI </a:t>
            </a:r>
            <a:r>
              <a:rPr lang="ko-KR" altLang="en-US" sz="1000" dirty="0">
                <a:solidFill>
                  <a:schemeClr val="tx1"/>
                </a:solidFill>
              </a:rPr>
              <a:t>추천 코디를 사용자 사진에 직접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 err="1">
                <a:solidFill>
                  <a:schemeClr val="tx1"/>
                </a:solidFill>
              </a:rPr>
              <a:t>입혀봄으로써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“</a:t>
            </a:r>
            <a:r>
              <a:rPr lang="ko-KR" altLang="en-US" sz="1000" dirty="0">
                <a:solidFill>
                  <a:schemeClr val="tx1"/>
                </a:solidFill>
              </a:rPr>
              <a:t>내가 입으면 어떤 느낌일까</a:t>
            </a:r>
            <a:r>
              <a:rPr lang="en-US" altLang="ko-KR" sz="1000" dirty="0">
                <a:solidFill>
                  <a:schemeClr val="tx1"/>
                </a:solidFill>
              </a:rPr>
              <a:t>?”</a:t>
            </a:r>
            <a:r>
              <a:rPr lang="ko-KR" altLang="en-US" sz="1000" dirty="0">
                <a:solidFill>
                  <a:schemeClr val="tx1"/>
                </a:solidFill>
              </a:rPr>
              <a:t>에 대한 명확한 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시각적 확신</a:t>
            </a: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을 제공합니다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A638767-12E4-1C0F-3804-EE40FA32ED43}"/>
              </a:ext>
            </a:extLst>
          </p:cNvPr>
          <p:cNvSpPr/>
          <p:nvPr/>
        </p:nvSpPr>
        <p:spPr>
          <a:xfrm>
            <a:off x="8437984" y="866775"/>
            <a:ext cx="3208637" cy="5495925"/>
          </a:xfrm>
          <a:prstGeom prst="rect">
            <a:avLst/>
          </a:prstGeom>
          <a:solidFill>
            <a:schemeClr val="bg1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600" dirty="0">
              <a:solidFill>
                <a:srgbClr val="333333"/>
              </a:solidFill>
            </a:endParaRPr>
          </a:p>
          <a:p>
            <a:pPr algn="ctr"/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333333"/>
                </a:solidFill>
              </a:rPr>
              <a:t>시장</a:t>
            </a:r>
            <a:r>
              <a:rPr lang="en-US" altLang="ko-KR" sz="1200" b="1" dirty="0">
                <a:solidFill>
                  <a:srgbClr val="333333"/>
                </a:solidFill>
              </a:rPr>
              <a:t>/</a:t>
            </a:r>
            <a:r>
              <a:rPr lang="ko-KR" altLang="en-US" sz="1200" b="1" dirty="0">
                <a:solidFill>
                  <a:srgbClr val="333333"/>
                </a:solidFill>
              </a:rPr>
              <a:t>사회적 목표</a:t>
            </a:r>
            <a:r>
              <a:rPr lang="en-US" altLang="ko-KR" sz="1200" b="1" dirty="0">
                <a:solidFill>
                  <a:srgbClr val="333333"/>
                </a:solidFill>
              </a:rPr>
              <a:t>:</a:t>
            </a:r>
            <a:br>
              <a:rPr lang="en-US" altLang="ko-KR" sz="1200" b="1" dirty="0">
                <a:solidFill>
                  <a:srgbClr val="333333"/>
                </a:solidFill>
              </a:rPr>
            </a:br>
            <a:r>
              <a:rPr lang="en-US" altLang="ko-KR" sz="1200" b="1" dirty="0">
                <a:solidFill>
                  <a:srgbClr val="333333"/>
                </a:solidFill>
              </a:rPr>
              <a:t>‘</a:t>
            </a:r>
            <a:r>
              <a:rPr lang="ko-KR" altLang="en-US" sz="1200" b="1" dirty="0">
                <a:solidFill>
                  <a:srgbClr val="333333"/>
                </a:solidFill>
              </a:rPr>
              <a:t>새로운 가치</a:t>
            </a:r>
            <a:r>
              <a:rPr lang="en-US" altLang="ko-KR" sz="1200" b="1" dirty="0">
                <a:solidFill>
                  <a:srgbClr val="333333"/>
                </a:solidFill>
              </a:rPr>
              <a:t>‘</a:t>
            </a:r>
            <a:r>
              <a:rPr lang="ko-KR" altLang="en-US" sz="1200" b="1" dirty="0">
                <a:solidFill>
                  <a:srgbClr val="333333"/>
                </a:solidFill>
              </a:rPr>
              <a:t>의 패러다임 제시</a:t>
            </a:r>
            <a:endParaRPr lang="en-US" altLang="ko-KR" sz="1200" b="1" dirty="0">
              <a:solidFill>
                <a:srgbClr val="333333"/>
              </a:solidFill>
            </a:endParaRPr>
          </a:p>
          <a:p>
            <a:pPr algn="ctr"/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en-US" altLang="ko-KR" sz="1000" b="1" dirty="0" err="1">
                <a:solidFill>
                  <a:schemeClr val="tx1"/>
                </a:solidFill>
              </a:rPr>
              <a:t>Project</a:t>
            </a:r>
            <a:r>
              <a:rPr lang="en-US" altLang="ko-KR" sz="1000" dirty="0" err="1">
                <a:solidFill>
                  <a:schemeClr val="tx1"/>
                </a:solidFill>
              </a:rPr>
              <a:t>.</a:t>
            </a:r>
            <a:r>
              <a:rPr lang="en-US" altLang="ko-KR" sz="1000" b="1" dirty="0" err="1">
                <a:solidFill>
                  <a:schemeClr val="tx1"/>
                </a:solidFill>
              </a:rPr>
              <a:t>Orbit</a:t>
            </a:r>
            <a:r>
              <a:rPr lang="ko-KR" altLang="en-US" sz="1000" dirty="0">
                <a:solidFill>
                  <a:schemeClr val="tx1"/>
                </a:solidFill>
              </a:rPr>
              <a:t>은 단순히 편리한 앱을 만드는 것을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넘어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의류 소비 시장에 새로운 패러다임을 제시하고 긍정적인 사회적 가치를 창출하는 것을 궁극적인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목표로 삼습니다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</a:rPr>
              <a:t>지속 가능한 패션 문화 기여</a:t>
            </a:r>
            <a:r>
              <a:rPr lang="en-US" altLang="ko-KR" sz="1000" b="1" dirty="0">
                <a:solidFill>
                  <a:schemeClr val="tx1"/>
                </a:solidFill>
              </a:rPr>
              <a:t>: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사용자가 </a:t>
            </a:r>
            <a:r>
              <a:rPr lang="ko-KR" altLang="en-US" sz="1000" b="1" dirty="0">
                <a:solidFill>
                  <a:schemeClr val="tx1"/>
                </a:solidFill>
              </a:rPr>
              <a:t>이미 가진 옷의 활용도를 극대화</a:t>
            </a:r>
            <a:r>
              <a:rPr lang="ko-KR" altLang="en-US" sz="1000" dirty="0">
                <a:solidFill>
                  <a:schemeClr val="tx1"/>
                </a:solidFill>
              </a:rPr>
              <a:t>하여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불필요한 의류 구매를 줄이고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의류 폐기물로 인한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환경 문제 해결에 기여하는 사회적 가치를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창출합니다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- </a:t>
            </a:r>
            <a:r>
              <a:rPr lang="ko-KR" altLang="en-US" sz="1000" b="1" dirty="0">
                <a:solidFill>
                  <a:schemeClr val="tx1"/>
                </a:solidFill>
              </a:rPr>
              <a:t>자신감이라는 가치 제공</a:t>
            </a:r>
            <a:r>
              <a:rPr lang="en-US" altLang="ko-KR" sz="1000" b="1" dirty="0">
                <a:solidFill>
                  <a:schemeClr val="tx1"/>
                </a:solidFill>
              </a:rPr>
              <a:t>: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ko-KR" altLang="en-US" sz="1000" dirty="0">
                <a:solidFill>
                  <a:schemeClr val="tx1"/>
                </a:solidFill>
              </a:rPr>
              <a:t>패션에 어려움을 느끼는 사용자들에게 기술을 통해 자신에게 어울리는 스타일을 쉽게 찾도록 도와 </a:t>
            </a:r>
            <a:br>
              <a:rPr lang="en-US" altLang="ko-KR" sz="1000" dirty="0">
                <a:solidFill>
                  <a:schemeClr val="tx1"/>
                </a:solidFill>
              </a:rPr>
            </a:br>
            <a:r>
              <a:rPr lang="en-US" altLang="ko-KR" sz="1000" dirty="0">
                <a:solidFill>
                  <a:schemeClr val="tx1"/>
                </a:solidFill>
              </a:rPr>
              <a:t>‘</a:t>
            </a:r>
            <a:r>
              <a:rPr lang="ko-KR" altLang="en-US" sz="1000" dirty="0">
                <a:solidFill>
                  <a:schemeClr val="tx1"/>
                </a:solidFill>
              </a:rPr>
              <a:t>자신감</a:t>
            </a:r>
            <a:r>
              <a:rPr lang="en-US" altLang="ko-KR" sz="1000" dirty="0">
                <a:solidFill>
                  <a:schemeClr val="tx1"/>
                </a:solidFill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</a:rPr>
              <a:t>이라는 무형의 가치를 함께 제공합니다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9" name="AutoShape 5">
            <a:extLst>
              <a:ext uri="{FF2B5EF4-FFF2-40B4-BE49-F238E27FC236}">
                <a16:creationId xmlns:a16="http://schemas.microsoft.com/office/drawing/2014/main" id="{87874305-315A-0EA4-2FC8-3D34A860A8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978FA1DD-E366-8F79-1292-F1BBC842A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AEA856-E677-AD51-5C2C-280E52200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488" y="944315"/>
            <a:ext cx="2711628" cy="24171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303E78-E733-D436-8A92-ADF76A5C7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245" y="944315"/>
            <a:ext cx="2771136" cy="184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9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459745" y="239670"/>
            <a:ext cx="1572866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02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성과물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F522AD7-D199-2F40-0978-E8AA6B4117CC}"/>
              </a:ext>
            </a:extLst>
          </p:cNvPr>
          <p:cNvGraphicFramePr>
            <a:graphicFrameLocks/>
          </p:cNvGraphicFramePr>
          <p:nvPr/>
        </p:nvGraphicFramePr>
        <p:xfrm>
          <a:off x="598968" y="1315502"/>
          <a:ext cx="10994064" cy="5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504557090"/>
                    </a:ext>
                  </a:extLst>
                </a:gridCol>
                <a:gridCol w="2298516">
                  <a:extLst>
                    <a:ext uri="{9D8B030D-6E8A-4147-A177-3AD203B41FA5}">
                      <a16:colId xmlns:a16="http://schemas.microsoft.com/office/drawing/2014/main" val="2387606604"/>
                    </a:ext>
                  </a:extLst>
                </a:gridCol>
                <a:gridCol w="2298516">
                  <a:extLst>
                    <a:ext uri="{9D8B030D-6E8A-4147-A177-3AD203B41FA5}">
                      <a16:colId xmlns:a16="http://schemas.microsoft.com/office/drawing/2014/main" val="1315131680"/>
                    </a:ext>
                  </a:extLst>
                </a:gridCol>
                <a:gridCol w="2298516">
                  <a:extLst>
                    <a:ext uri="{9D8B030D-6E8A-4147-A177-3AD203B41FA5}">
                      <a16:colId xmlns:a16="http://schemas.microsoft.com/office/drawing/2014/main" val="3651953230"/>
                    </a:ext>
                  </a:extLst>
                </a:gridCol>
                <a:gridCol w="2298516">
                  <a:extLst>
                    <a:ext uri="{9D8B030D-6E8A-4147-A177-3AD203B41FA5}">
                      <a16:colId xmlns:a16="http://schemas.microsoft.com/office/drawing/2014/main" val="1083757794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F6F4F0"/>
                          </a:solidFill>
                        </a:rPr>
                        <a:t>성과물 유형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9A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시제품 제작 </a:t>
                      </a:r>
                      <a:r>
                        <a:rPr lang="en-US" altLang="ko-KR" sz="1600" b="0" dirty="0"/>
                        <a:t>(    )</a:t>
                      </a:r>
                      <a:endParaRPr lang="ko-KR" altLang="en-US" sz="1600" b="0" dirty="0"/>
                    </a:p>
                  </a:txBody>
                  <a:tcPr anchor="ctr">
                    <a:lnL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소프트웨어 개발 </a:t>
                      </a:r>
                      <a:r>
                        <a:rPr lang="en-US" altLang="ko-KR" sz="1600" b="0" dirty="0"/>
                        <a:t>(    )</a:t>
                      </a:r>
                      <a:endParaRPr lang="ko-KR" altLang="en-US" sz="1600" b="0" dirty="0"/>
                    </a:p>
                  </a:txBody>
                  <a:tcPr anchor="ctr">
                    <a:lnL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논문 및 보고서 </a:t>
                      </a:r>
                      <a:r>
                        <a:rPr lang="en-US" altLang="ko-KR" sz="1600" b="0" dirty="0"/>
                        <a:t>(    )</a:t>
                      </a:r>
                      <a:endParaRPr lang="ko-KR" altLang="en-US" sz="1600" b="0" dirty="0"/>
                    </a:p>
                  </a:txBody>
                  <a:tcPr anchor="ctr">
                    <a:lnL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/>
                        <a:t>공연 및 음반 </a:t>
                      </a:r>
                      <a:r>
                        <a:rPr lang="en-US" altLang="ko-KR" sz="1600" b="0" dirty="0"/>
                        <a:t>(    )</a:t>
                      </a:r>
                      <a:endParaRPr lang="ko-KR" altLang="en-US" sz="1600" b="0" dirty="0"/>
                    </a:p>
                  </a:txBody>
                  <a:tcPr anchor="ctr">
                    <a:lnL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9283753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6BA48DD-6D24-61DC-4C98-9DE4748715E9}"/>
              </a:ext>
            </a:extLst>
          </p:cNvPr>
          <p:cNvSpPr>
            <a:spLocks noChangeAspect="1"/>
          </p:cNvSpPr>
          <p:nvPr/>
        </p:nvSpPr>
        <p:spPr>
          <a:xfrm>
            <a:off x="795612" y="2309945"/>
            <a:ext cx="4255359" cy="360000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rgbClr val="333333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FE3FE3F-46E3-A0F3-E10D-51EDFBEB5574}"/>
              </a:ext>
            </a:extLst>
          </p:cNvPr>
          <p:cNvSpPr>
            <a:spLocks/>
          </p:cNvSpPr>
          <p:nvPr/>
        </p:nvSpPr>
        <p:spPr>
          <a:xfrm>
            <a:off x="5609317" y="2309945"/>
            <a:ext cx="6026102" cy="3600000"/>
          </a:xfrm>
          <a:prstGeom prst="roundRect">
            <a:avLst>
              <a:gd name="adj" fmla="val 7563"/>
            </a:avLst>
          </a:prstGeom>
          <a:solidFill>
            <a:srgbClr val="F6F4F0"/>
          </a:solidFill>
          <a:ln>
            <a:solidFill>
              <a:srgbClr val="A99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just"/>
            <a:r>
              <a:rPr lang="en-US" altLang="ko-KR" sz="1200" b="1" dirty="0">
                <a:solidFill>
                  <a:schemeClr val="tx1"/>
                </a:solidFill>
              </a:rPr>
              <a:t>Project. Orbit</a:t>
            </a:r>
            <a:r>
              <a:rPr lang="ko-KR" altLang="en-US" sz="1200" b="1" dirty="0">
                <a:solidFill>
                  <a:schemeClr val="tx1"/>
                </a:solidFill>
              </a:rPr>
              <a:t>의 최종 성과물은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Google Gemini 3.0 </a:t>
            </a:r>
            <a:r>
              <a:rPr lang="ko-KR" altLang="en-US" sz="1200" b="1" dirty="0">
                <a:solidFill>
                  <a:schemeClr val="tx1"/>
                </a:solidFill>
              </a:rPr>
              <a:t>기반의 안드로이드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algn="just"/>
            <a:r>
              <a:rPr lang="ko-KR" altLang="en-US" sz="1200" b="1" dirty="0">
                <a:solidFill>
                  <a:schemeClr val="tx1"/>
                </a:solidFill>
              </a:rPr>
              <a:t>모바일 애플리케이션</a:t>
            </a:r>
            <a:r>
              <a:rPr lang="ko-KR" altLang="en-US" sz="1200" dirty="0">
                <a:solidFill>
                  <a:schemeClr val="tx1"/>
                </a:solidFill>
              </a:rPr>
              <a:t>입니다</a:t>
            </a:r>
            <a:r>
              <a:rPr lang="en-US" altLang="ko-KR" sz="1200" dirty="0">
                <a:solidFill>
                  <a:schemeClr val="tx1"/>
                </a:solidFill>
              </a:rPr>
              <a:t>. </a:t>
            </a:r>
            <a:r>
              <a:rPr lang="ko-KR" altLang="en-US" sz="1200" dirty="0">
                <a:solidFill>
                  <a:schemeClr val="tx1"/>
                </a:solidFill>
              </a:rPr>
              <a:t>이 앱은 사용자의 옷장 데이터를 디지털화하고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</a:rPr>
              <a:t>날씨와 일정 데이터를 분석하여 최적의 코디를 제안하며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이를 가상 착용기술로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just"/>
            <a:r>
              <a:rPr lang="ko-KR" altLang="en-US" sz="1200" dirty="0" err="1">
                <a:solidFill>
                  <a:schemeClr val="tx1"/>
                </a:solidFill>
              </a:rPr>
              <a:t>시각화하여</a:t>
            </a:r>
            <a:r>
              <a:rPr lang="ko-KR" altLang="en-US" sz="1200" dirty="0">
                <a:solidFill>
                  <a:schemeClr val="tx1"/>
                </a:solidFill>
              </a:rPr>
              <a:t> 보여주는 </a:t>
            </a:r>
            <a:r>
              <a:rPr lang="en-US" altLang="ko-KR" sz="1200" b="1" dirty="0">
                <a:solidFill>
                  <a:schemeClr val="tx1"/>
                </a:solidFill>
              </a:rPr>
              <a:t>All-in-One AI </a:t>
            </a:r>
            <a:r>
              <a:rPr lang="ko-KR" altLang="en-US" sz="1200" b="1" dirty="0">
                <a:solidFill>
                  <a:schemeClr val="tx1"/>
                </a:solidFill>
              </a:rPr>
              <a:t>패션 플랫폼</a:t>
            </a:r>
            <a:r>
              <a:rPr lang="ko-KR" altLang="en-US" sz="1200" dirty="0">
                <a:solidFill>
                  <a:schemeClr val="tx1"/>
                </a:solidFill>
              </a:rPr>
              <a:t>입니다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주요 구현 기능은 다음과 같습니다</a:t>
            </a:r>
            <a:r>
              <a:rPr lang="en-US" altLang="ko-KR" sz="1200" b="1" dirty="0">
                <a:solidFill>
                  <a:schemeClr val="tx1"/>
                </a:solidFill>
              </a:rPr>
              <a:t>:</a:t>
            </a:r>
          </a:p>
          <a:p>
            <a:endParaRPr lang="ko-KR" altLang="en-US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스마트 디지털 옷장 </a:t>
            </a:r>
            <a:r>
              <a:rPr lang="en-US" altLang="ko-KR" sz="1200" b="1" dirty="0">
                <a:solidFill>
                  <a:schemeClr val="tx1"/>
                </a:solidFill>
              </a:rPr>
              <a:t>&amp; AI </a:t>
            </a:r>
            <a:r>
              <a:rPr lang="ko-KR" altLang="en-US" sz="1200" b="1" dirty="0">
                <a:solidFill>
                  <a:schemeClr val="tx1"/>
                </a:solidFill>
              </a:rPr>
              <a:t>자동 분석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의류 촬영 시 </a:t>
            </a:r>
            <a:r>
              <a:rPr lang="en-US" altLang="ko-KR" sz="1200" b="1" dirty="0">
                <a:solidFill>
                  <a:schemeClr val="tx1"/>
                </a:solidFill>
              </a:rPr>
              <a:t>Gemini 3.0 Flash</a:t>
            </a:r>
            <a:r>
              <a:rPr lang="ko-KR" altLang="en-US" sz="1200" dirty="0">
                <a:solidFill>
                  <a:schemeClr val="tx1"/>
                </a:solidFill>
              </a:rPr>
              <a:t>가 디자인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소재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핏 등의 상세 정보</a:t>
            </a:r>
            <a:r>
              <a:rPr lang="en-US" altLang="ko-KR" sz="1200" dirty="0">
                <a:solidFill>
                  <a:schemeClr val="tx1"/>
                </a:solidFill>
              </a:rPr>
              <a:t>(Detail)</a:t>
            </a:r>
            <a:r>
              <a:rPr lang="ko-KR" altLang="en-US" sz="1200" dirty="0">
                <a:solidFill>
                  <a:schemeClr val="tx1"/>
                </a:solidFill>
              </a:rPr>
              <a:t>를 </a:t>
            </a:r>
            <a:r>
              <a:rPr lang="ko-KR" altLang="en-US" sz="1200" b="1" dirty="0">
                <a:solidFill>
                  <a:schemeClr val="tx1"/>
                </a:solidFill>
              </a:rPr>
              <a:t>자동으로 작성</a:t>
            </a:r>
            <a:r>
              <a:rPr lang="ko-KR" altLang="en-US" sz="1200" dirty="0">
                <a:solidFill>
                  <a:schemeClr val="tx1"/>
                </a:solidFill>
              </a:rPr>
              <a:t> 및 분류하여 </a:t>
            </a:r>
            <a:r>
              <a:rPr lang="en-US" altLang="ko-KR" sz="1200" dirty="0">
                <a:solidFill>
                  <a:schemeClr val="tx1"/>
                </a:solidFill>
              </a:rPr>
              <a:t>DB</a:t>
            </a:r>
            <a:r>
              <a:rPr lang="ko-KR" altLang="en-US" sz="1200" dirty="0">
                <a:solidFill>
                  <a:schemeClr val="tx1"/>
                </a:solidFill>
              </a:rPr>
              <a:t>를 구축합니다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상황인지형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코디 추천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실시간 기상 데이터와 사용자 일정</a:t>
            </a:r>
            <a:r>
              <a:rPr lang="en-US" altLang="ko-KR" sz="1200" dirty="0">
                <a:solidFill>
                  <a:schemeClr val="tx1"/>
                </a:solidFill>
              </a:rPr>
              <a:t>,</a:t>
            </a:r>
            <a:r>
              <a:rPr lang="ko-KR" altLang="en-US" sz="1200" dirty="0">
                <a:solidFill>
                  <a:schemeClr val="tx1"/>
                </a:solidFill>
              </a:rPr>
              <a:t>스타일 취향을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 err="1">
                <a:solidFill>
                  <a:schemeClr val="tx1"/>
                </a:solidFill>
              </a:rPr>
              <a:t>멀티모달로</a:t>
            </a:r>
            <a:r>
              <a:rPr lang="ko-KR" altLang="en-US" sz="1200" dirty="0">
                <a:solidFill>
                  <a:schemeClr val="tx1"/>
                </a:solidFill>
              </a:rPr>
              <a:t> 분석하여 </a:t>
            </a:r>
            <a:r>
              <a:rPr lang="en-US" altLang="ko-KR" sz="1200" b="1" dirty="0">
                <a:solidFill>
                  <a:schemeClr val="tx1"/>
                </a:solidFill>
              </a:rPr>
              <a:t>TPO</a:t>
            </a:r>
            <a:r>
              <a:rPr lang="ko-KR" altLang="en-US" sz="1200" b="1" dirty="0">
                <a:solidFill>
                  <a:schemeClr val="tx1"/>
                </a:solidFill>
              </a:rPr>
              <a:t>에 최적화된 스타일링</a:t>
            </a:r>
            <a:r>
              <a:rPr lang="ko-KR" altLang="en-US" sz="1200" dirty="0">
                <a:solidFill>
                  <a:schemeClr val="tx1"/>
                </a:solidFill>
              </a:rPr>
              <a:t>을 제공합니다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초현실적 가상 피팅 시뮬레이션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en-US" altLang="ko-KR" sz="1200" b="1" dirty="0">
                <a:solidFill>
                  <a:schemeClr val="tx1"/>
                </a:solidFill>
              </a:rPr>
              <a:t>Gemini 3.0 Pro Image</a:t>
            </a:r>
            <a:r>
              <a:rPr lang="ko-KR" altLang="en-US" sz="1200" dirty="0">
                <a:solidFill>
                  <a:schemeClr val="tx1"/>
                </a:solidFill>
              </a:rPr>
              <a:t> 모델을 활용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사용자의 체형과 얼굴을 유지한 채 추천 코디를 합성하여 </a:t>
            </a:r>
            <a:r>
              <a:rPr lang="ko-KR" altLang="en-US" sz="1200" b="1" dirty="0">
                <a:solidFill>
                  <a:schemeClr val="tx1"/>
                </a:solidFill>
              </a:rPr>
              <a:t>실제 착용 핏</a:t>
            </a:r>
            <a:r>
              <a:rPr lang="ko-KR" altLang="en-US" sz="1200" dirty="0">
                <a:solidFill>
                  <a:schemeClr val="tx1"/>
                </a:solidFill>
              </a:rPr>
              <a:t>을 구현합니다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altLang="ko-KR" sz="1200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918" y="1220850"/>
            <a:ext cx="498835" cy="498835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B42177-8600-DDFE-0007-5C66159F61D0}"/>
              </a:ext>
            </a:extLst>
          </p:cNvPr>
          <p:cNvGrpSpPr/>
          <p:nvPr/>
        </p:nvGrpSpPr>
        <p:grpSpPr>
          <a:xfrm>
            <a:off x="237266" y="2309945"/>
            <a:ext cx="5133020" cy="3704389"/>
            <a:chOff x="166723" y="2234131"/>
            <a:chExt cx="5133020" cy="370438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9F74F7E-72CC-D73A-2E13-CD2EAB868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723" y="2234132"/>
              <a:ext cx="1709717" cy="3704388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5D87F51-DA5E-8525-1C9E-81D3C0100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0307" y="2234132"/>
              <a:ext cx="1709718" cy="3704388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D11B776-8115-0FCA-DA6C-6888BEF83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90025" y="2234131"/>
              <a:ext cx="1709718" cy="37043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218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BC35702-8FA5-8AF8-96FB-6B7292A23759}"/>
              </a:ext>
            </a:extLst>
          </p:cNvPr>
          <p:cNvSpPr txBox="1"/>
          <p:nvPr/>
        </p:nvSpPr>
        <p:spPr>
          <a:xfrm>
            <a:off x="395975" y="216440"/>
            <a:ext cx="1249060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ko-KR" sz="2400" dirty="0">
                <a:solidFill>
                  <a:srgbClr val="A99A6F"/>
                </a:solidFill>
                <a:latin typeface="+mj-ea"/>
                <a:ea typeface="+mj-ea"/>
              </a:rPr>
              <a:t>03 </a:t>
            </a:r>
            <a:r>
              <a:rPr lang="ko-KR" altLang="en-US" sz="2400" dirty="0">
                <a:solidFill>
                  <a:srgbClr val="A99A6F"/>
                </a:solidFill>
                <a:latin typeface="+mj-ea"/>
                <a:ea typeface="+mj-ea"/>
              </a:rPr>
              <a:t>팀원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D6463-D1C1-4B59-8382-6AFDD2B4B94E}" type="slidenum">
              <a:rPr lang="ko-KR" altLang="en-US" smtClean="0"/>
              <a:t>6</a:t>
            </a:fld>
            <a:endParaRPr lang="ko-KR" alt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D65AF4C-2233-4D74-A62E-33032D094279}"/>
              </a:ext>
            </a:extLst>
          </p:cNvPr>
          <p:cNvGrpSpPr/>
          <p:nvPr/>
        </p:nvGrpSpPr>
        <p:grpSpPr>
          <a:xfrm>
            <a:off x="639541" y="1255664"/>
            <a:ext cx="11552459" cy="4791115"/>
            <a:chOff x="1743545" y="1551337"/>
            <a:chExt cx="11552459" cy="4791115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A295A81-31AD-4C73-8AE0-B83E4A6865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43545" y="4155465"/>
              <a:ext cx="1350000" cy="2186987"/>
            </a:xfrm>
            <a:prstGeom prst="roundRect">
              <a:avLst>
                <a:gd name="adj" fmla="val 7563"/>
              </a:avLst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A99A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FB2B0684-A721-4EE0-81EA-EE5A61F126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43545" y="1584019"/>
              <a:ext cx="1350000" cy="1882188"/>
            </a:xfrm>
            <a:prstGeom prst="roundRect">
              <a:avLst>
                <a:gd name="adj" fmla="val 7563"/>
              </a:avLst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A99A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840210B-2C3C-4E36-A410-8918282C2406}"/>
                </a:ext>
              </a:extLst>
            </p:cNvPr>
            <p:cNvSpPr txBox="1"/>
            <p:nvPr/>
          </p:nvSpPr>
          <p:spPr>
            <a:xfrm>
              <a:off x="3142706" y="1551337"/>
              <a:ext cx="3565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b="1" dirty="0">
                  <a:solidFill>
                    <a:srgbClr val="333333"/>
                  </a:solidFill>
                </a:rPr>
                <a:t>박시우</a:t>
              </a:r>
              <a:endParaRPr lang="en-US" altLang="ko-KR" sz="2000" b="1" dirty="0">
                <a:solidFill>
                  <a:srgbClr val="333333"/>
                </a:solidFill>
              </a:endParaRPr>
            </a:p>
            <a:p>
              <a:pPr algn="just"/>
              <a:r>
                <a:rPr lang="en-US" altLang="ko-KR" sz="1600" b="1" dirty="0" err="1">
                  <a:solidFill>
                    <a:srgbClr val="333333"/>
                  </a:solidFill>
                </a:rPr>
                <a:t>TeamLeader</a:t>
              </a:r>
              <a:r>
                <a:rPr lang="en-US" altLang="ko-KR" sz="1600" b="1" dirty="0">
                  <a:solidFill>
                    <a:srgbClr val="333333"/>
                  </a:solidFill>
                </a:rPr>
                <a:t>/</a:t>
              </a:r>
              <a:r>
                <a:rPr lang="en-US" altLang="ko-KR" sz="1600" b="1" dirty="0" err="1">
                  <a:solidFill>
                    <a:srgbClr val="333333"/>
                  </a:solidFill>
                </a:rPr>
                <a:t>LeadDeveloper</a:t>
              </a:r>
              <a:endParaRPr lang="ko-KR" altLang="en-US" sz="1600" b="1" dirty="0">
                <a:solidFill>
                  <a:srgbClr val="33333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828BAFD-2277-4A84-939A-CBDA65F16128}"/>
                </a:ext>
              </a:extLst>
            </p:cNvPr>
            <p:cNvSpPr txBox="1"/>
            <p:nvPr/>
          </p:nvSpPr>
          <p:spPr>
            <a:xfrm>
              <a:off x="3142707" y="2170457"/>
              <a:ext cx="13227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333333"/>
                  </a:solidFill>
                </a:rPr>
                <a:t>2025200007</a:t>
              </a:r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720D4F5-B32C-4299-93AD-E12AA28CE643}"/>
                </a:ext>
              </a:extLst>
            </p:cNvPr>
            <p:cNvSpPr txBox="1"/>
            <p:nvPr/>
          </p:nvSpPr>
          <p:spPr>
            <a:xfrm>
              <a:off x="3142707" y="2452715"/>
              <a:ext cx="4017446" cy="12772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프로젝트의 전체 아키텍처를 설계하고</a:t>
              </a:r>
              <a:r>
                <a:rPr lang="en-US" altLang="ko-KR" sz="1100" dirty="0"/>
                <a:t>, Gemini 3.0</a:t>
              </a:r>
              <a:r>
                <a:rPr lang="ko-KR" altLang="en-US" sz="1100" dirty="0"/>
                <a:t>기반의 </a:t>
              </a:r>
              <a:br>
                <a:rPr lang="en-US" altLang="ko-KR" sz="1100" dirty="0"/>
              </a:br>
              <a:r>
                <a:rPr lang="en-US" altLang="ko-KR" sz="1100" dirty="0"/>
                <a:t>AI </a:t>
              </a:r>
              <a:r>
                <a:rPr lang="ko-KR" altLang="en-US" sz="1100" dirty="0"/>
                <a:t>파이프라인을 구축하는 과정에서 기술적 한계를</a:t>
              </a:r>
              <a:br>
                <a:rPr lang="en-US" altLang="ko-KR" sz="1100" dirty="0"/>
              </a:br>
              <a:r>
                <a:rPr lang="ko-KR" altLang="en-US" sz="1100" dirty="0"/>
                <a:t>극복하는 즐거움을 느꼈습니다</a:t>
              </a:r>
              <a:r>
                <a:rPr lang="en-US" altLang="ko-KR" sz="1100" dirty="0"/>
                <a:t>. </a:t>
              </a:r>
              <a:r>
                <a:rPr lang="ko-KR" altLang="en-US" sz="1100" dirty="0"/>
                <a:t>특히 응답 속도 최적화를 </a:t>
              </a:r>
              <a:br>
                <a:rPr lang="en-US" altLang="ko-KR" sz="1100" dirty="0"/>
              </a:br>
              <a:r>
                <a:rPr lang="ko-KR" altLang="en-US" sz="1100" dirty="0"/>
                <a:t>위해</a:t>
              </a:r>
              <a:r>
                <a:rPr lang="en-US" altLang="ko-KR" sz="1100" dirty="0"/>
                <a:t> Flash</a:t>
              </a:r>
              <a:r>
                <a:rPr lang="ko-KR" altLang="en-US" sz="1100" dirty="0"/>
                <a:t>모델을 도입하고 프롬프트 엔지니어링을 통해 </a:t>
              </a:r>
              <a:br>
                <a:rPr lang="en-US" altLang="ko-KR" sz="1100" dirty="0"/>
              </a:br>
              <a:r>
                <a:rPr lang="ko-KR" altLang="en-US" sz="1100" dirty="0" err="1"/>
                <a:t>로직을개선했던</a:t>
              </a:r>
              <a:r>
                <a:rPr lang="ko-KR" altLang="en-US" sz="1100" dirty="0"/>
                <a:t> 경험은 개발자로서 큰 자산이 되었습니다</a:t>
              </a:r>
              <a:r>
                <a:rPr lang="en-US" altLang="ko-KR" sz="1100" dirty="0"/>
                <a:t>. </a:t>
              </a:r>
              <a:br>
                <a:rPr lang="en-US" altLang="ko-KR" sz="1100" dirty="0"/>
              </a:br>
              <a:r>
                <a:rPr lang="ko-KR" altLang="en-US" sz="1100" dirty="0"/>
                <a:t>리더로서</a:t>
              </a:r>
              <a:r>
                <a:rPr lang="en-US" altLang="ko-KR" sz="1100" dirty="0"/>
                <a:t> </a:t>
              </a:r>
              <a:r>
                <a:rPr lang="ko-KR" altLang="en-US" sz="1100" dirty="0"/>
                <a:t>기술적 방향성을 제시할 때 믿고 따라와 준 팀원들 </a:t>
              </a:r>
              <a:br>
                <a:rPr lang="en-US" altLang="ko-KR" sz="1100" dirty="0"/>
              </a:br>
              <a:r>
                <a:rPr lang="ko-KR" altLang="en-US" sz="1100" dirty="0"/>
                <a:t>덕분에 성공적으로 프로젝트를 마칠 수 있었습니다</a:t>
              </a:r>
              <a:r>
                <a:rPr lang="en-US" altLang="ko-KR" sz="1100" dirty="0"/>
                <a:t>.</a:t>
              </a:r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3E01A294-5256-4EFE-BBDD-7C2D27C3BD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88622" y="1642063"/>
              <a:ext cx="1350000" cy="1520635"/>
            </a:xfrm>
            <a:prstGeom prst="roundRect">
              <a:avLst>
                <a:gd name="adj" fmla="val 7563"/>
              </a:avLst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rgbClr val="A99A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F95C92-2713-495E-9673-90D0C064B70B}"/>
                </a:ext>
              </a:extLst>
            </p:cNvPr>
            <p:cNvSpPr txBox="1"/>
            <p:nvPr/>
          </p:nvSpPr>
          <p:spPr>
            <a:xfrm>
              <a:off x="8687783" y="1551337"/>
              <a:ext cx="283137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b="1" dirty="0" err="1">
                  <a:solidFill>
                    <a:srgbClr val="333333"/>
                  </a:solidFill>
                </a:rPr>
                <a:t>최원창</a:t>
              </a:r>
              <a:endParaRPr lang="en-US" altLang="ko-KR" sz="2000" b="1" dirty="0">
                <a:solidFill>
                  <a:srgbClr val="333333"/>
                </a:solidFill>
              </a:endParaRPr>
            </a:p>
            <a:p>
              <a:pPr algn="just"/>
              <a:r>
                <a:rPr lang="en-US" altLang="ko-KR" sz="1600" b="1" dirty="0">
                  <a:solidFill>
                    <a:srgbClr val="333333"/>
                  </a:solidFill>
                </a:rPr>
                <a:t>Full-</a:t>
              </a:r>
              <a:r>
                <a:rPr lang="en-US" altLang="ko-KR" sz="1600" b="1" dirty="0" err="1">
                  <a:solidFill>
                    <a:srgbClr val="333333"/>
                  </a:solidFill>
                </a:rPr>
                <a:t>StackDeveloper</a:t>
              </a:r>
              <a:endParaRPr lang="ko-KR" altLang="en-US" sz="1600" b="1" dirty="0">
                <a:solidFill>
                  <a:srgbClr val="333333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19009B-91B7-42D7-99AB-1052F6AC1D84}"/>
                </a:ext>
              </a:extLst>
            </p:cNvPr>
            <p:cNvSpPr txBox="1"/>
            <p:nvPr/>
          </p:nvSpPr>
          <p:spPr>
            <a:xfrm>
              <a:off x="8717282" y="2140963"/>
              <a:ext cx="13227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333333"/>
                  </a:solidFill>
                </a:rPr>
                <a:t>2025200021</a:t>
              </a:r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9880596-EF02-46F2-A2B3-A82D55B0454D}"/>
                </a:ext>
              </a:extLst>
            </p:cNvPr>
            <p:cNvSpPr txBox="1"/>
            <p:nvPr/>
          </p:nvSpPr>
          <p:spPr>
            <a:xfrm>
              <a:off x="8668734" y="2452715"/>
              <a:ext cx="4627270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팀장님과 함께 </a:t>
              </a:r>
              <a:r>
                <a:rPr lang="ko-KR" altLang="en-US" sz="1100" dirty="0" err="1"/>
                <a:t>백엔드와</a:t>
              </a:r>
              <a:r>
                <a:rPr lang="ko-KR" altLang="en-US" sz="1100" dirty="0"/>
                <a:t> </a:t>
              </a:r>
              <a:r>
                <a:rPr lang="ko-KR" altLang="en-US" sz="1100" dirty="0" err="1"/>
                <a:t>프론트엔드를</a:t>
              </a:r>
              <a:r>
                <a:rPr lang="ko-KR" altLang="en-US" sz="1100" dirty="0"/>
                <a:t> 오가며 데이터 통신의 흐름을 </a:t>
              </a:r>
              <a:br>
                <a:rPr lang="en-US" altLang="ko-KR" sz="1100" dirty="0"/>
              </a:br>
              <a:r>
                <a:rPr lang="ko-KR" altLang="en-US" sz="1100" dirty="0"/>
                <a:t>견고하게 구축하는 데 집중했습니다</a:t>
              </a:r>
              <a:r>
                <a:rPr lang="en-US" altLang="ko-KR" sz="1100" dirty="0"/>
                <a:t>. </a:t>
              </a:r>
              <a:r>
                <a:rPr lang="ko-KR" altLang="en-US" sz="1100" dirty="0"/>
                <a:t>복잡한 </a:t>
              </a:r>
              <a:r>
                <a:rPr lang="en-US" altLang="ko-KR" sz="1100" dirty="0"/>
                <a:t>AI </a:t>
              </a:r>
              <a:r>
                <a:rPr lang="ko-KR" altLang="en-US" sz="1100" dirty="0"/>
                <a:t>분석 데이터를 </a:t>
              </a:r>
              <a:r>
                <a:rPr lang="en-US" altLang="ko-KR" sz="1100" dirty="0"/>
                <a:t>DB</a:t>
              </a:r>
              <a:r>
                <a:rPr lang="ko-KR" altLang="en-US" sz="1100" dirty="0"/>
                <a:t>에 </a:t>
              </a:r>
              <a:br>
                <a:rPr lang="en-US" altLang="ko-KR" sz="1100" dirty="0"/>
              </a:br>
              <a:r>
                <a:rPr lang="ko-KR" altLang="en-US" sz="1100" dirty="0"/>
                <a:t>체계적으로 저장하고 관리하는 로직을 구현하면서 서버 개발에 대한</a:t>
              </a:r>
              <a:br>
                <a:rPr lang="en-US" altLang="ko-KR" sz="1100" dirty="0"/>
              </a:br>
              <a:r>
                <a:rPr lang="ko-KR" altLang="en-US" sz="1100" dirty="0"/>
                <a:t>깊이 있는 이해를 할 수 있었습니다</a:t>
              </a:r>
              <a:r>
                <a:rPr lang="en-US" altLang="ko-KR" sz="1100" dirty="0"/>
                <a:t>. </a:t>
              </a:r>
              <a:r>
                <a:rPr lang="ko-KR" altLang="en-US" sz="1100" dirty="0"/>
                <a:t>탄탄한 설계 위에서 기능을 구현해</a:t>
              </a:r>
              <a:br>
                <a:rPr lang="en-US" altLang="ko-KR" sz="1100" dirty="0"/>
              </a:br>
              <a:r>
                <a:rPr lang="ko-KR" altLang="en-US" sz="1100" dirty="0"/>
                <a:t>나가는 체계적인 개발 프로세스를 경험한 뜻깊은 시간이었습니다</a:t>
              </a:r>
              <a:r>
                <a:rPr lang="en-US" altLang="ko-KR" sz="1100" dirty="0"/>
                <a:t>.</a:t>
              </a:r>
              <a:endParaRPr lang="ko-KR" altLang="en-US" sz="2400" dirty="0">
                <a:solidFill>
                  <a:srgbClr val="33333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FFB1592-9374-4469-B066-D505EF2E0B52}"/>
                </a:ext>
              </a:extLst>
            </p:cNvPr>
            <p:cNvSpPr txBox="1"/>
            <p:nvPr/>
          </p:nvSpPr>
          <p:spPr>
            <a:xfrm>
              <a:off x="3142707" y="4140064"/>
              <a:ext cx="272994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000" b="1" dirty="0">
                  <a:solidFill>
                    <a:srgbClr val="333333"/>
                  </a:solidFill>
                </a:rPr>
                <a:t>박준석</a:t>
              </a:r>
              <a:endParaRPr lang="en-US" altLang="ko-KR" sz="2000" b="1" dirty="0">
                <a:solidFill>
                  <a:srgbClr val="333333"/>
                </a:solidFill>
              </a:endParaRPr>
            </a:p>
            <a:p>
              <a:pPr algn="just"/>
              <a:r>
                <a:rPr lang="en-US" altLang="ko-KR" sz="1600" b="1" dirty="0" err="1">
                  <a:solidFill>
                    <a:srgbClr val="333333"/>
                  </a:solidFill>
                </a:rPr>
                <a:t>FrontendDeveloper</a:t>
              </a:r>
              <a:endParaRPr lang="ko-KR" altLang="en-US" sz="1600" b="1" dirty="0">
                <a:solidFill>
                  <a:srgbClr val="333333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75AEAA1-2605-44EB-AC58-BD1EB983BF56}"/>
                </a:ext>
              </a:extLst>
            </p:cNvPr>
            <p:cNvSpPr txBox="1"/>
            <p:nvPr/>
          </p:nvSpPr>
          <p:spPr>
            <a:xfrm>
              <a:off x="3142707" y="4739516"/>
              <a:ext cx="13227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333333"/>
                  </a:solidFill>
                </a:rPr>
                <a:t>2025200005</a:t>
              </a:r>
              <a:endParaRPr lang="ko-KR" altLang="en-US" sz="1600" dirty="0">
                <a:solidFill>
                  <a:srgbClr val="333333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949E42A-73FE-485C-ADFE-0B0BF05042C3}"/>
                </a:ext>
              </a:extLst>
            </p:cNvPr>
            <p:cNvSpPr txBox="1"/>
            <p:nvPr/>
          </p:nvSpPr>
          <p:spPr>
            <a:xfrm>
              <a:off x="3142707" y="5022392"/>
              <a:ext cx="5359159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/>
                <a:t>팀장님이 설계해주신 전체적인 </a:t>
              </a:r>
              <a:r>
                <a:rPr lang="en-US" altLang="ko-KR" sz="1100" dirty="0"/>
                <a:t>UI/UX</a:t>
              </a:r>
              <a:r>
                <a:rPr lang="ko-KR" altLang="en-US" sz="1100" dirty="0"/>
                <a:t>방향성을 바탕으로</a:t>
              </a:r>
              <a:r>
                <a:rPr lang="en-US" altLang="ko-KR" sz="1100" dirty="0"/>
                <a:t>,</a:t>
              </a:r>
              <a:br>
                <a:rPr lang="en-US" altLang="ko-KR" sz="1100" dirty="0"/>
              </a:br>
              <a:r>
                <a:rPr lang="ko-KR" altLang="en-US" sz="1100" dirty="0"/>
                <a:t>사용자가 실제로 마주하는 화면의 디테일과 사용성을 완성하는 데</a:t>
              </a:r>
              <a:br>
                <a:rPr lang="en-US" altLang="ko-KR" sz="1100" dirty="0"/>
              </a:br>
              <a:r>
                <a:rPr lang="ko-KR" altLang="en-US" sz="1100" dirty="0"/>
                <a:t>주력했습니다</a:t>
              </a:r>
              <a:r>
                <a:rPr lang="en-US" altLang="ko-KR" sz="1100" dirty="0"/>
                <a:t>. </a:t>
              </a:r>
              <a:r>
                <a:rPr lang="ko-KR" altLang="en-US" sz="1100" dirty="0"/>
                <a:t>가상 피팅 결과물이 모바일 화면에서 자연스럽게 보이도록</a:t>
              </a:r>
              <a:br>
                <a:rPr lang="en-US" altLang="ko-KR" sz="1100" dirty="0"/>
              </a:br>
              <a:r>
                <a:rPr lang="ko-KR" altLang="en-US" sz="1100" dirty="0"/>
                <a:t>레이아웃을 다듬고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사용자 인터랙션을 부드럽게 구현하며 </a:t>
              </a:r>
              <a:r>
                <a:rPr lang="ko-KR" altLang="en-US" sz="1100" dirty="0" err="1"/>
                <a:t>프론트엔드</a:t>
              </a:r>
              <a:br>
                <a:rPr lang="en-US" altLang="ko-KR" sz="1100" dirty="0"/>
              </a:br>
              <a:r>
                <a:rPr lang="ko-KR" altLang="en-US" sz="1100" dirty="0"/>
                <a:t>역량을 키웠습니다</a:t>
              </a:r>
              <a:r>
                <a:rPr lang="en-US" altLang="ko-KR" sz="1100" dirty="0"/>
                <a:t>. </a:t>
              </a:r>
              <a:r>
                <a:rPr lang="ko-KR" altLang="en-US" sz="1100" dirty="0"/>
                <a:t>사용자의 편의성을 최우선으로 고민했던 값진 경험이었습니다</a:t>
              </a:r>
              <a:r>
                <a:rPr lang="en-US" altLang="ko-KR" sz="1100" dirty="0"/>
                <a:t>.</a:t>
              </a:r>
              <a:endParaRPr lang="ko-KR" altLang="en-US" sz="2400" dirty="0">
                <a:solidFill>
                  <a:srgbClr val="333333"/>
                </a:solidFill>
              </a:endParaRPr>
            </a:p>
          </p:txBody>
        </p:sp>
      </p:grpSp>
      <p:sp>
        <p:nvSpPr>
          <p:cNvPr id="4" name="AutoShape 4">
            <a:extLst>
              <a:ext uri="{FF2B5EF4-FFF2-40B4-BE49-F238E27FC236}">
                <a16:creationId xmlns:a16="http://schemas.microsoft.com/office/drawing/2014/main" id="{3990396B-16E2-8C70-79CD-30EA380209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08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/>
        </p:nvSpPr>
        <p:spPr>
          <a:xfrm>
            <a:off x="536840" y="235471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958518" y="920190"/>
            <a:ext cx="37028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가. 연구배경 및 현황</a:t>
            </a:r>
            <a:endParaRPr sz="200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4256205" y="935747"/>
            <a:ext cx="70517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현재상황 / 문제점 분석등을 기록할 수 있습니다.</a:t>
            </a:r>
            <a:endParaRPr dirty="0"/>
          </a:p>
        </p:txBody>
      </p:sp>
      <p:sp>
        <p:nvSpPr>
          <p:cNvPr id="204" name="Google Shape;204;p7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  <p:sp>
        <p:nvSpPr>
          <p:cNvPr id="205" name="Google Shape;205;p7"/>
          <p:cNvSpPr txBox="1"/>
          <p:nvPr/>
        </p:nvSpPr>
        <p:spPr>
          <a:xfrm>
            <a:off x="805781" y="1557497"/>
            <a:ext cx="10800000" cy="4644000"/>
          </a:xfrm>
          <a:prstGeom prst="rect">
            <a:avLst/>
          </a:prstGeom>
          <a:noFill/>
          <a:ln w="19050" cap="flat" cmpd="sng">
            <a:solidFill>
              <a:srgbClr val="A99A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AutoNum type="arabicPeriod"/>
            </a:pPr>
            <a:r>
              <a:rPr lang="ko-KR" altLang="en-US" sz="1600" b="1" dirty="0"/>
              <a:t>연구 배경</a:t>
            </a:r>
            <a:r>
              <a:rPr lang="en-US" altLang="ko-KR" sz="1600" b="1" dirty="0"/>
              <a:t>: AI </a:t>
            </a:r>
            <a:r>
              <a:rPr lang="ko-KR" altLang="en-US" sz="1600" b="1" dirty="0"/>
              <a:t>패션 </a:t>
            </a:r>
            <a:r>
              <a:rPr lang="ko-KR" altLang="en-US" sz="1600" b="1" dirty="0" err="1"/>
              <a:t>테크</a:t>
            </a:r>
            <a:r>
              <a:rPr lang="ko-KR" altLang="en-US" sz="1600" b="1" dirty="0"/>
              <a:t> 시장의 성장과 한계</a:t>
            </a:r>
            <a:r>
              <a:rPr lang="ko-KR" altLang="en-US" sz="1600" dirty="0"/>
              <a:t> </a:t>
            </a:r>
            <a:r>
              <a:rPr lang="ko-KR" altLang="en-US" dirty="0"/>
              <a:t>현재 </a:t>
            </a:r>
            <a:r>
              <a:rPr lang="en-US" altLang="ko-KR" dirty="0"/>
              <a:t>AI </a:t>
            </a:r>
            <a:r>
              <a:rPr lang="ko-KR" altLang="en-US" dirty="0"/>
              <a:t>패션 시장은 높은 성장 잠재력에도 불구하고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</a:t>
            </a:r>
            <a:r>
              <a:rPr lang="ko-KR" altLang="en-US" dirty="0"/>
              <a:t>디지털 옷장</a:t>
            </a:r>
            <a:r>
              <a:rPr lang="en-US" altLang="ko-KR" dirty="0"/>
              <a:t>(</a:t>
            </a:r>
            <a:r>
              <a:rPr lang="ko-KR" altLang="en-US" dirty="0"/>
              <a:t>관리</a:t>
            </a:r>
            <a:r>
              <a:rPr lang="en-US" altLang="ko-KR" dirty="0"/>
              <a:t>)</a:t>
            </a:r>
            <a:r>
              <a:rPr lang="ko-KR" altLang="en-US" dirty="0"/>
              <a:t>과 가상 피팅</a:t>
            </a:r>
            <a:r>
              <a:rPr lang="en-US" altLang="ko-KR" dirty="0"/>
              <a:t>(</a:t>
            </a:r>
            <a:r>
              <a:rPr lang="ko-KR" altLang="en-US" dirty="0"/>
              <a:t>시각화</a:t>
            </a:r>
            <a:r>
              <a:rPr lang="en-US" altLang="ko-KR" dirty="0"/>
              <a:t>)</a:t>
            </a:r>
            <a:r>
              <a:rPr lang="ko-KR" altLang="en-US" dirty="0"/>
              <a:t>이라는 두 가지 흐름으로 사용자 경험이 명확히 단절되어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342900" indent="-342900">
              <a:buAutoNum type="arabicPeriod" startAt="2"/>
            </a:pPr>
            <a:r>
              <a:rPr lang="ko-KR" altLang="en-US" sz="1600" b="1" dirty="0"/>
              <a:t>현황 분석 및 문제점 </a:t>
            </a:r>
            <a:r>
              <a:rPr lang="en-US" altLang="ko-KR" sz="1600" b="1" dirty="0"/>
              <a:t>(Pain Points)</a:t>
            </a:r>
          </a:p>
          <a:p>
            <a:endParaRPr lang="ko-KR" altLang="en-US" sz="1600" dirty="0"/>
          </a:p>
          <a:p>
            <a:r>
              <a:rPr lang="en-US" altLang="ko-KR" b="1" dirty="0"/>
              <a:t>    - [</a:t>
            </a:r>
            <a:r>
              <a:rPr lang="ko-KR" altLang="en-US" b="1" dirty="0"/>
              <a:t>한계 </a:t>
            </a:r>
            <a:r>
              <a:rPr lang="en-US" altLang="ko-KR" b="1" dirty="0"/>
              <a:t>1] ‘</a:t>
            </a:r>
            <a:r>
              <a:rPr lang="ko-KR" altLang="en-US" b="1" dirty="0" err="1"/>
              <a:t>관리’에만</a:t>
            </a:r>
            <a:r>
              <a:rPr lang="ko-KR" altLang="en-US" b="1" dirty="0"/>
              <a:t> 머무는 디지털 옷장 서비스 </a:t>
            </a:r>
            <a:r>
              <a:rPr lang="en-US" altLang="ko-KR" b="1" dirty="0"/>
              <a:t>(</a:t>
            </a:r>
            <a:r>
              <a:rPr lang="ko-KR" altLang="en-US" b="1" dirty="0"/>
              <a:t>예</a:t>
            </a:r>
            <a:r>
              <a:rPr lang="en-US" altLang="ko-KR" b="1" dirty="0"/>
              <a:t>: </a:t>
            </a:r>
            <a:r>
              <a:rPr lang="en-US" altLang="ko-KR" b="1" dirty="0" err="1"/>
              <a:t>Acloset</a:t>
            </a:r>
            <a:r>
              <a:rPr lang="en-US" altLang="ko-KR" b="1" dirty="0"/>
              <a:t>)</a:t>
            </a:r>
            <a:endParaRPr lang="ko-KR" altLang="en-US" dirty="0"/>
          </a:p>
          <a:p>
            <a:pPr lvl="1"/>
            <a:r>
              <a:rPr lang="ko-KR" altLang="en-US" b="1" dirty="0"/>
              <a:t>            </a:t>
            </a:r>
            <a:r>
              <a:rPr lang="en-US" altLang="ko-KR" b="1" dirty="0"/>
              <a:t>- </a:t>
            </a:r>
            <a:r>
              <a:rPr lang="ko-KR" altLang="en-US" b="1" dirty="0"/>
              <a:t>현황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에이클로젯</a:t>
            </a:r>
            <a:r>
              <a:rPr lang="en-US" altLang="ko-KR" dirty="0"/>
              <a:t>(</a:t>
            </a:r>
            <a:r>
              <a:rPr lang="en-US" altLang="ko-KR" dirty="0" err="1"/>
              <a:t>Acloset</a:t>
            </a:r>
            <a:r>
              <a:rPr lang="en-US" altLang="ko-KR" dirty="0"/>
              <a:t>) </a:t>
            </a:r>
            <a:r>
              <a:rPr lang="ko-KR" altLang="en-US" dirty="0"/>
              <a:t>등은 누적 사용자 </a:t>
            </a:r>
            <a:r>
              <a:rPr lang="en-US" altLang="ko-KR" dirty="0"/>
              <a:t>100</a:t>
            </a:r>
            <a:r>
              <a:rPr lang="ko-KR" altLang="en-US" dirty="0"/>
              <a:t>만 명을 돌파하며 ‘디지털 </a:t>
            </a:r>
            <a:r>
              <a:rPr lang="ko-KR" altLang="en-US" dirty="0" err="1"/>
              <a:t>관리’의</a:t>
            </a:r>
            <a:r>
              <a:rPr lang="ko-KR" altLang="en-US" dirty="0"/>
              <a:t> 수요를 증명했으나</a:t>
            </a:r>
            <a:r>
              <a:rPr lang="en-US" altLang="ko-KR" dirty="0"/>
              <a:t>(</a:t>
            </a:r>
            <a:r>
              <a:rPr lang="ko-KR" altLang="en-US" dirty="0"/>
              <a:t>전자신문</a:t>
            </a:r>
            <a:r>
              <a:rPr lang="en-US" altLang="ko-KR" dirty="0"/>
              <a:t>, 22.10), </a:t>
            </a:r>
          </a:p>
          <a:p>
            <a:pPr lvl="1"/>
            <a:r>
              <a:rPr lang="en-US" altLang="ko-KR" dirty="0"/>
              <a:t>                       2D </a:t>
            </a:r>
            <a:r>
              <a:rPr lang="ko-KR" altLang="en-US" dirty="0"/>
              <a:t>이미지 기반의 </a:t>
            </a:r>
            <a:r>
              <a:rPr lang="ko-KR" altLang="en-US" b="1" dirty="0"/>
              <a:t>‘콜라주</a:t>
            </a:r>
            <a:r>
              <a:rPr lang="en-US" altLang="ko-KR" b="1" dirty="0"/>
              <a:t>(Collage)’ </a:t>
            </a:r>
            <a:r>
              <a:rPr lang="ko-KR" altLang="en-US" b="1" dirty="0"/>
              <a:t>형태 코디 제안</a:t>
            </a:r>
            <a:r>
              <a:rPr lang="ko-KR" altLang="en-US" dirty="0"/>
              <a:t>에 그치고 있습니다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            </a:t>
            </a:r>
            <a:r>
              <a:rPr lang="en-US" altLang="ko-KR" b="1" dirty="0"/>
              <a:t>- </a:t>
            </a:r>
            <a:r>
              <a:rPr lang="ko-KR" altLang="en-US" b="1" dirty="0"/>
              <a:t>문제점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내가 입었을 때 어떤 핏일까</a:t>
            </a:r>
            <a:r>
              <a:rPr lang="en-US" altLang="ko-KR" dirty="0"/>
              <a:t>?"</a:t>
            </a:r>
            <a:r>
              <a:rPr lang="ko-KR" altLang="en-US" dirty="0"/>
              <a:t>에 대한 시각적 해답을 주지 못하여</a:t>
            </a:r>
            <a:r>
              <a:rPr lang="en-US" altLang="ko-KR" dirty="0"/>
              <a:t>, </a:t>
            </a:r>
            <a:r>
              <a:rPr lang="ko-KR" altLang="en-US" dirty="0"/>
              <a:t>실제 착용 경험과는 거리가 먼 </a:t>
            </a:r>
            <a:endParaRPr lang="en-US" altLang="ko-KR" dirty="0"/>
          </a:p>
          <a:p>
            <a:pPr lvl="1"/>
            <a:r>
              <a:rPr lang="en-US" altLang="ko-KR" b="1" dirty="0"/>
              <a:t>                           </a:t>
            </a:r>
            <a:r>
              <a:rPr lang="ko-KR" altLang="en-US" b="1" dirty="0"/>
              <a:t>정보 나열 수준</a:t>
            </a:r>
            <a:r>
              <a:rPr lang="ko-KR" altLang="en-US" dirty="0"/>
              <a:t>에 머물러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    - [</a:t>
            </a:r>
            <a:r>
              <a:rPr lang="ko-KR" altLang="en-US" b="1" dirty="0"/>
              <a:t>한계 </a:t>
            </a:r>
            <a:r>
              <a:rPr lang="en-US" altLang="ko-KR" b="1" dirty="0"/>
              <a:t>2] ‘</a:t>
            </a:r>
            <a:r>
              <a:rPr lang="ko-KR" altLang="en-US" b="1" dirty="0"/>
              <a:t>신규 </a:t>
            </a:r>
            <a:r>
              <a:rPr lang="ko-KR" altLang="en-US" b="1" dirty="0" err="1"/>
              <a:t>구매’에만</a:t>
            </a:r>
            <a:r>
              <a:rPr lang="ko-KR" altLang="en-US" b="1" dirty="0"/>
              <a:t> 편중된 가상 피팅 솔루션</a:t>
            </a:r>
            <a:endParaRPr lang="ko-KR" altLang="en-US" dirty="0"/>
          </a:p>
          <a:p>
            <a:pPr lvl="1"/>
            <a:r>
              <a:rPr lang="ko-KR" altLang="en-US" b="1" dirty="0"/>
              <a:t>            </a:t>
            </a:r>
            <a:r>
              <a:rPr lang="en-US" altLang="ko-KR" b="1" dirty="0"/>
              <a:t>- </a:t>
            </a:r>
            <a:r>
              <a:rPr lang="ko-KR" altLang="en-US" b="1" dirty="0"/>
              <a:t>현황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Google ‘</a:t>
            </a:r>
            <a:r>
              <a:rPr lang="en-US" altLang="ko-KR" dirty="0" err="1"/>
              <a:t>Doppl</a:t>
            </a:r>
            <a:r>
              <a:rPr lang="en-US" altLang="ko-KR" dirty="0"/>
              <a:t>’(25.06), Ably ‘AI </a:t>
            </a:r>
            <a:r>
              <a:rPr lang="ko-KR" altLang="en-US" dirty="0" err="1"/>
              <a:t>피팅룸</a:t>
            </a:r>
            <a:r>
              <a:rPr lang="ko-KR" altLang="en-US" dirty="0"/>
              <a:t>’</a:t>
            </a:r>
            <a:r>
              <a:rPr lang="en-US" altLang="ko-KR" dirty="0"/>
              <a:t>(25.07) </a:t>
            </a:r>
            <a:r>
              <a:rPr lang="ko-KR" altLang="en-US" dirty="0"/>
              <a:t>등 빅테크 기업들이 앞다투어 진출하며 시장 규모는 </a:t>
            </a:r>
            <a:endParaRPr lang="en-US" altLang="ko-KR" dirty="0"/>
          </a:p>
          <a:p>
            <a:pPr lvl="1"/>
            <a:r>
              <a:rPr lang="en-US" altLang="ko-KR" dirty="0"/>
              <a:t>                       2033</a:t>
            </a:r>
            <a:r>
              <a:rPr lang="ko-KR" altLang="en-US" dirty="0"/>
              <a:t>년 약 </a:t>
            </a:r>
            <a:r>
              <a:rPr lang="en-US" altLang="ko-KR" dirty="0"/>
              <a:t>44</a:t>
            </a:r>
            <a:r>
              <a:rPr lang="ko-KR" altLang="en-US" dirty="0"/>
              <a:t>조 원에 달할 전망입니다</a:t>
            </a:r>
            <a:r>
              <a:rPr lang="en-US" altLang="ko-KR" dirty="0"/>
              <a:t>(Astute Analytica/</a:t>
            </a:r>
            <a:r>
              <a:rPr lang="ko-KR" altLang="en-US" dirty="0" err="1"/>
              <a:t>뉴시스</a:t>
            </a:r>
            <a:r>
              <a:rPr lang="en-US" altLang="ko-KR" dirty="0"/>
              <a:t>).</a:t>
            </a:r>
          </a:p>
          <a:p>
            <a:pPr lvl="1"/>
            <a:r>
              <a:rPr lang="ko-KR" altLang="en-US" b="1" dirty="0"/>
              <a:t>            </a:t>
            </a:r>
            <a:r>
              <a:rPr lang="en-US" altLang="ko-KR" b="1" dirty="0"/>
              <a:t>- </a:t>
            </a:r>
            <a:r>
              <a:rPr lang="ko-KR" altLang="en-US" b="1" dirty="0"/>
              <a:t>문제점</a:t>
            </a:r>
            <a:r>
              <a:rPr lang="en-US" altLang="ko-KR" b="1" dirty="0"/>
              <a:t>:</a:t>
            </a:r>
            <a:r>
              <a:rPr lang="ko-KR" altLang="en-US" dirty="0"/>
              <a:t> 대부분 쇼핑몰의 </a:t>
            </a:r>
            <a:r>
              <a:rPr lang="ko-KR" altLang="en-US" b="1" dirty="0"/>
              <a:t>신상품 판매를 위한 마케팅 도구</a:t>
            </a:r>
            <a:r>
              <a:rPr lang="ko-KR" altLang="en-US" dirty="0"/>
              <a:t>로 활용되며</a:t>
            </a:r>
            <a:r>
              <a:rPr lang="en-US" altLang="ko-KR" dirty="0"/>
              <a:t>, </a:t>
            </a:r>
            <a:r>
              <a:rPr lang="ko-KR" altLang="en-US" dirty="0"/>
              <a:t>정작 사용자가 이미 보유한 옷을 활용하는 </a:t>
            </a:r>
            <a:endParaRPr lang="en-US" altLang="ko-KR" dirty="0"/>
          </a:p>
          <a:p>
            <a:pPr lvl="1"/>
            <a:r>
              <a:rPr lang="en-US" altLang="ko-KR" dirty="0"/>
              <a:t>                           </a:t>
            </a:r>
            <a:r>
              <a:rPr lang="ko-KR" altLang="en-US" dirty="0"/>
              <a:t>개인화된 일상 코디에는 적용되지 못하고 있습니다</a:t>
            </a:r>
            <a:r>
              <a:rPr lang="en-US" altLang="ko-KR" dirty="0"/>
              <a:t>.</a:t>
            </a:r>
          </a:p>
          <a:p>
            <a:pPr lvl="1"/>
            <a:endParaRPr lang="en-US" altLang="ko-KR" b="1" dirty="0"/>
          </a:p>
          <a:p>
            <a:pPr marL="342900" lvl="1" indent="-342900">
              <a:buAutoNum type="arabicPeriod" startAt="3"/>
            </a:pPr>
            <a:r>
              <a:rPr lang="en-US" altLang="ko-KR" sz="1600" b="1" dirty="0"/>
              <a:t>Orbit</a:t>
            </a:r>
            <a:r>
              <a:rPr lang="ko-KR" altLang="en-US" sz="1600" b="1" dirty="0"/>
              <a:t>의 개발 필요성</a:t>
            </a:r>
            <a:r>
              <a:rPr lang="en-US" altLang="ko-KR" sz="1600" b="1" dirty="0"/>
              <a:t>: </a:t>
            </a:r>
            <a:r>
              <a:rPr lang="en-US" altLang="ko-KR" b="1" dirty="0"/>
              <a:t>‘</a:t>
            </a:r>
            <a:r>
              <a:rPr lang="ko-KR" altLang="en-US" b="1" dirty="0"/>
              <a:t>단절된 경험의 통합’</a:t>
            </a:r>
            <a:r>
              <a:rPr lang="ko-KR" altLang="en-US" dirty="0"/>
              <a:t> 본 프로젝트는 나의 옷장 데이터와 초현실적 가상 피팅을 결합하여 </a:t>
            </a:r>
            <a:endParaRPr lang="en-US" altLang="ko-KR" dirty="0"/>
          </a:p>
          <a:p>
            <a:pPr lvl="1"/>
            <a:r>
              <a:rPr lang="ko-KR" altLang="en-US" dirty="0"/>
              <a:t>       시장의 빈틈을 공략합니다</a:t>
            </a:r>
            <a:r>
              <a:rPr lang="en-US" altLang="ko-KR" dirty="0"/>
              <a:t>. </a:t>
            </a:r>
            <a:r>
              <a:rPr lang="ko-KR" altLang="en-US" dirty="0"/>
              <a:t>옷장 속에 잠들어 있는 옷의 활용도를 극대화하고</a:t>
            </a:r>
            <a:r>
              <a:rPr lang="en-US" altLang="ko-KR" dirty="0"/>
              <a:t>, </a:t>
            </a:r>
            <a:r>
              <a:rPr lang="ko-KR" altLang="en-US" dirty="0"/>
              <a:t>시각적 확신을 제공하는 </a:t>
            </a:r>
            <a:endParaRPr lang="en-US" altLang="ko-KR" dirty="0"/>
          </a:p>
          <a:p>
            <a:pPr lvl="1"/>
            <a:r>
              <a:rPr lang="ko-KR" altLang="en-US" b="1" dirty="0"/>
              <a:t>       완전한 형태의 퍼스널 스타일링 솔루션</a:t>
            </a:r>
            <a:r>
              <a:rPr lang="ko-KR" altLang="en-US" dirty="0"/>
              <a:t>이 필요합니다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 txBox="1"/>
          <p:nvPr/>
        </p:nvSpPr>
        <p:spPr>
          <a:xfrm>
            <a:off x="4542044" y="350527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951112" y="858147"/>
            <a:ext cx="265168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나. 연구 내용 및 방법</a:t>
            </a:r>
            <a:endParaRPr dirty="0"/>
          </a:p>
        </p:txBody>
      </p:sp>
      <p:sp>
        <p:nvSpPr>
          <p:cNvPr id="221" name="Google Shape;221;p9"/>
          <p:cNvSpPr txBox="1"/>
          <p:nvPr/>
        </p:nvSpPr>
        <p:spPr>
          <a:xfrm>
            <a:off x="3602800" y="960962"/>
            <a:ext cx="70517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산업체 및 지역사회 요구분석, 수요조사 등을 기술할 수 있음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9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805781" y="1268739"/>
            <a:ext cx="10700419" cy="5100684"/>
          </a:xfrm>
          <a:prstGeom prst="rect">
            <a:avLst/>
          </a:prstGeom>
          <a:noFill/>
          <a:ln w="19050" cap="flat" cmpd="sng">
            <a:solidFill>
              <a:srgbClr val="A99A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산업체 및 사용자 요구 분석 </a:t>
            </a:r>
            <a:r>
              <a:rPr lang="en-US" altLang="ko-KR" b="1" dirty="0"/>
              <a:t>(Requirement Analysis)</a:t>
            </a:r>
            <a:endParaRPr lang="ko-KR" altLang="en-US" b="1" dirty="0"/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패션 </a:t>
            </a:r>
            <a:r>
              <a:rPr lang="en-US" altLang="ko-KR" dirty="0"/>
              <a:t>E-</a:t>
            </a:r>
            <a:r>
              <a:rPr lang="ko-KR" altLang="en-US" dirty="0"/>
              <a:t>커머스 시장의 기술적 요구</a:t>
            </a:r>
            <a:r>
              <a:rPr lang="en-US" altLang="ko-KR" dirty="0"/>
              <a:t>:</a:t>
            </a:r>
            <a:r>
              <a:rPr lang="ko-KR" altLang="en-US" dirty="0"/>
              <a:t> 온라인 의류 구매 시 착용 불가로 인한 </a:t>
            </a:r>
            <a:r>
              <a:rPr lang="ko-KR" altLang="en-US" dirty="0" err="1"/>
              <a:t>반품률</a:t>
            </a:r>
            <a:r>
              <a:rPr lang="ko-KR" altLang="en-US" dirty="0"/>
              <a:t> 증가 문제를 해결하기 위해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실제 착용 핏을 </a:t>
            </a:r>
            <a:r>
              <a:rPr lang="ko-KR" altLang="en-US" dirty="0" err="1"/>
              <a:t>시각화하는</a:t>
            </a:r>
            <a:r>
              <a:rPr lang="ko-KR" altLang="en-US" dirty="0"/>
              <a:t> </a:t>
            </a:r>
            <a:r>
              <a:rPr lang="en-US" altLang="ko-KR" dirty="0"/>
              <a:t>'</a:t>
            </a:r>
            <a:r>
              <a:rPr lang="ko-KR" altLang="en-US" dirty="0"/>
              <a:t>가상 </a:t>
            </a:r>
            <a:r>
              <a:rPr lang="ko-KR" altLang="en-US" dirty="0" err="1"/>
              <a:t>시착</a:t>
            </a:r>
            <a:r>
              <a:rPr lang="en-US" altLang="ko-KR" dirty="0"/>
              <a:t>(Virtual Try-On)' </a:t>
            </a:r>
            <a:r>
              <a:rPr lang="ko-KR" altLang="en-US" dirty="0"/>
              <a:t>기술의 상용화 요구가 급증함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사용자 경험</a:t>
            </a:r>
            <a:r>
              <a:rPr lang="en-US" altLang="ko-KR" dirty="0"/>
              <a:t>(UX)</a:t>
            </a:r>
            <a:r>
              <a:rPr lang="ko-KR" altLang="en-US" dirty="0"/>
              <a:t>의 고도화 요구</a:t>
            </a:r>
            <a:r>
              <a:rPr lang="en-US" altLang="ko-KR" dirty="0"/>
              <a:t>:</a:t>
            </a:r>
            <a:r>
              <a:rPr lang="ko-KR" altLang="en-US" dirty="0"/>
              <a:t> 기존의 단순 상품 나열식 추천을 넘어</a:t>
            </a:r>
            <a:r>
              <a:rPr lang="en-US" altLang="ko-KR" dirty="0"/>
              <a:t>, </a:t>
            </a:r>
            <a:r>
              <a:rPr lang="ko-KR" altLang="en-US" dirty="0"/>
              <a:t>사용자가 보유한 옷과 날씨</a:t>
            </a:r>
            <a:r>
              <a:rPr lang="en-US" altLang="ko-KR" dirty="0"/>
              <a:t>, </a:t>
            </a:r>
            <a:r>
              <a:rPr lang="ko-KR" altLang="en-US" dirty="0"/>
              <a:t>일정</a:t>
            </a:r>
            <a:r>
              <a:rPr lang="en-US" altLang="ko-KR" dirty="0"/>
              <a:t>(TPO)</a:t>
            </a:r>
            <a:r>
              <a:rPr lang="ko-KR" altLang="en-US" dirty="0"/>
              <a:t>을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복합적으로 고려하는 </a:t>
            </a:r>
            <a:r>
              <a:rPr lang="en-US" altLang="ko-KR" dirty="0"/>
              <a:t>'</a:t>
            </a:r>
            <a:r>
              <a:rPr lang="ko-KR" altLang="en-US" dirty="0"/>
              <a:t>초개인화</a:t>
            </a:r>
            <a:r>
              <a:rPr lang="en-US" altLang="ko-KR" dirty="0"/>
              <a:t>(Hyper-Personalization) </a:t>
            </a:r>
            <a:r>
              <a:rPr lang="ko-KR" altLang="en-US" dirty="0"/>
              <a:t>스타일링</a:t>
            </a:r>
            <a:r>
              <a:rPr lang="en-US" altLang="ko-KR" dirty="0"/>
              <a:t>'</a:t>
            </a:r>
            <a:r>
              <a:rPr lang="ko-KR" altLang="en-US" dirty="0"/>
              <a:t> 솔루션에 대한 수요 확인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과제 연구 내용 </a:t>
            </a:r>
            <a:r>
              <a:rPr lang="en-US" altLang="ko-KR" b="1" dirty="0"/>
              <a:t>(Research Contents)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en-US" altLang="ko-KR" dirty="0"/>
              <a:t>    - </a:t>
            </a:r>
            <a:r>
              <a:rPr lang="ko-KR" altLang="en-US" dirty="0"/>
              <a:t>위 요구사항을 반영하여 **</a:t>
            </a:r>
            <a:r>
              <a:rPr lang="en-US" altLang="ko-KR" dirty="0"/>
              <a:t>’</a:t>
            </a:r>
            <a:r>
              <a:rPr lang="ko-KR" altLang="en-US" dirty="0"/>
              <a:t>관리</a:t>
            </a:r>
            <a:r>
              <a:rPr lang="en-US" altLang="ko-KR" dirty="0"/>
              <a:t>-</a:t>
            </a:r>
            <a:r>
              <a:rPr lang="ko-KR" altLang="en-US" dirty="0"/>
              <a:t>추천</a:t>
            </a:r>
            <a:r>
              <a:rPr lang="en-US" altLang="ko-KR" dirty="0"/>
              <a:t>-</a:t>
            </a:r>
            <a:r>
              <a:rPr lang="ko-KR" altLang="en-US" dirty="0" err="1"/>
              <a:t>시착</a:t>
            </a:r>
            <a:r>
              <a:rPr lang="en-US" altLang="ko-KR" dirty="0"/>
              <a:t>’**</a:t>
            </a:r>
            <a:r>
              <a:rPr lang="ko-KR" altLang="en-US" dirty="0"/>
              <a:t>이 통합된 </a:t>
            </a:r>
            <a:r>
              <a:rPr lang="en-US" altLang="ko-KR" dirty="0"/>
              <a:t>All-in-One </a:t>
            </a:r>
            <a:r>
              <a:rPr lang="ko-KR" altLang="en-US" dirty="0"/>
              <a:t>패션 플랫폼 </a:t>
            </a:r>
            <a:r>
              <a:rPr lang="en-US" altLang="ko-KR" dirty="0"/>
              <a:t>Orbit</a:t>
            </a:r>
            <a:r>
              <a:rPr lang="ko-KR" altLang="en-US" dirty="0"/>
              <a:t>을 설계 및 구현함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스마트 디지털 옷장 구축</a:t>
            </a:r>
            <a:r>
              <a:rPr lang="en-US" altLang="ko-KR" dirty="0"/>
              <a:t>:</a:t>
            </a:r>
            <a:r>
              <a:rPr lang="ko-KR" altLang="en-US" dirty="0"/>
              <a:t> 카메라 촬영 시 </a:t>
            </a:r>
            <a:r>
              <a:rPr lang="en-US" altLang="ko-KR" dirty="0"/>
              <a:t>Vision AI</a:t>
            </a:r>
            <a:r>
              <a:rPr lang="ko-KR" altLang="en-US" dirty="0"/>
              <a:t>가 의류의 카테고리</a:t>
            </a:r>
            <a:r>
              <a:rPr lang="en-US" altLang="ko-KR" dirty="0"/>
              <a:t>,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소재 등 상세 속성을 자동 분석하여 </a:t>
            </a:r>
            <a:endParaRPr lang="en-US" altLang="ko-KR" dirty="0"/>
          </a:p>
          <a:p>
            <a:r>
              <a:rPr lang="en-US" altLang="ko-KR" dirty="0"/>
              <a:t>      DB</a:t>
            </a:r>
            <a:r>
              <a:rPr lang="ko-KR" altLang="en-US" dirty="0"/>
              <a:t>화하는 시스템 구현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상황인지형</a:t>
            </a:r>
            <a:r>
              <a:rPr lang="en-US" altLang="ko-KR" dirty="0"/>
              <a:t>(Context-Aware) </a:t>
            </a:r>
            <a:r>
              <a:rPr lang="ko-KR" altLang="en-US" dirty="0"/>
              <a:t>추천 엔진</a:t>
            </a:r>
            <a:r>
              <a:rPr lang="en-US" altLang="ko-KR" dirty="0"/>
              <a:t>:</a:t>
            </a:r>
            <a:r>
              <a:rPr lang="ko-KR" altLang="en-US" dirty="0"/>
              <a:t> 기상청 </a:t>
            </a:r>
            <a:r>
              <a:rPr lang="en-US" altLang="ko-KR" dirty="0"/>
              <a:t>API(</a:t>
            </a:r>
            <a:r>
              <a:rPr lang="ko-KR" altLang="en-US" dirty="0"/>
              <a:t>날씨</a:t>
            </a:r>
            <a:r>
              <a:rPr lang="en-US" altLang="ko-KR" dirty="0"/>
              <a:t>) </a:t>
            </a:r>
            <a:r>
              <a:rPr lang="ko-KR" altLang="en-US" dirty="0"/>
              <a:t>및 모바일 캘린더</a:t>
            </a:r>
            <a:r>
              <a:rPr lang="en-US" altLang="ko-KR" dirty="0"/>
              <a:t>(</a:t>
            </a:r>
            <a:r>
              <a:rPr lang="ko-KR" altLang="en-US" dirty="0"/>
              <a:t>일정</a:t>
            </a:r>
            <a:r>
              <a:rPr lang="en-US" altLang="ko-KR" dirty="0"/>
              <a:t>) </a:t>
            </a:r>
            <a:r>
              <a:rPr lang="ko-KR" altLang="en-US" dirty="0"/>
              <a:t>데이터를 연동하고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Gemini 3.0</a:t>
            </a:r>
            <a:r>
              <a:rPr lang="ko-KR" altLang="en-US" dirty="0"/>
              <a:t>의 추론 능력을 활용해 </a:t>
            </a:r>
            <a:r>
              <a:rPr lang="en-US" altLang="ko-KR" dirty="0"/>
              <a:t>TPO</a:t>
            </a:r>
            <a:r>
              <a:rPr lang="ko-KR" altLang="en-US" dirty="0"/>
              <a:t>에 최적화된 코디를 제안하는 알고리즘 개발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초현실적 가상 피팅 시뮬레이션</a:t>
            </a:r>
            <a:r>
              <a:rPr lang="en-US" altLang="ko-KR" dirty="0"/>
              <a:t>:</a:t>
            </a:r>
            <a:r>
              <a:rPr lang="ko-KR" altLang="en-US" dirty="0"/>
              <a:t> 사용자 고유의 얼굴과 체형</a:t>
            </a:r>
            <a:r>
              <a:rPr lang="en-US" altLang="ko-KR" dirty="0"/>
              <a:t>(Identity)</a:t>
            </a:r>
            <a:r>
              <a:rPr lang="ko-KR" altLang="en-US" dirty="0"/>
              <a:t>을 유지하면서</a:t>
            </a:r>
            <a:r>
              <a:rPr lang="en-US" altLang="ko-KR" dirty="0"/>
              <a:t>, </a:t>
            </a:r>
            <a:r>
              <a:rPr lang="ko-KR" altLang="en-US" dirty="0"/>
              <a:t>추천된 의류를 자연스럽게 합성하는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파이프라인 구축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 및 구현 전략 </a:t>
            </a:r>
            <a:r>
              <a:rPr lang="en-US" altLang="ko-KR" b="1" dirty="0"/>
              <a:t>(Implementation Methods)</a:t>
            </a:r>
            <a:endParaRPr lang="ko-KR" altLang="en-US" b="1" dirty="0"/>
          </a:p>
          <a:p>
            <a:r>
              <a:rPr lang="en-US" altLang="ko-KR" dirty="0"/>
              <a:t>    - Hybrid AI Pipeline </a:t>
            </a:r>
            <a:r>
              <a:rPr lang="ko-KR" altLang="en-US" dirty="0"/>
              <a:t>적용</a:t>
            </a:r>
            <a:r>
              <a:rPr lang="en-US" altLang="ko-KR" dirty="0"/>
              <a:t>:</a:t>
            </a:r>
            <a:endParaRPr lang="ko-KR" altLang="en-US" dirty="0"/>
          </a:p>
          <a:p>
            <a:pPr lvl="1"/>
            <a:r>
              <a:rPr lang="ko-KR" altLang="en-US" dirty="0"/>
              <a:t>            </a:t>
            </a:r>
            <a:r>
              <a:rPr lang="en-US" altLang="ko-KR" dirty="0"/>
              <a:t>- </a:t>
            </a:r>
            <a:r>
              <a:rPr lang="ko-KR" altLang="en-US" dirty="0"/>
              <a:t>논리</a:t>
            </a:r>
            <a:r>
              <a:rPr lang="en-US" altLang="ko-KR" dirty="0"/>
              <a:t>/</a:t>
            </a:r>
            <a:r>
              <a:rPr lang="ko-KR" altLang="en-US" dirty="0"/>
              <a:t>분석 </a:t>
            </a:r>
            <a:r>
              <a:rPr lang="en-US" altLang="ko-KR" dirty="0"/>
              <a:t>(Logic):</a:t>
            </a:r>
            <a:r>
              <a:rPr lang="ko-KR" altLang="en-US" dirty="0"/>
              <a:t> </a:t>
            </a:r>
            <a:r>
              <a:rPr lang="en-US" altLang="ko-KR" dirty="0"/>
              <a:t>Gemini 3.0 Flash</a:t>
            </a:r>
            <a:r>
              <a:rPr lang="ko-KR" altLang="en-US" dirty="0"/>
              <a:t> 모델을 적용하여 텍스트 분석 및 코디 추천 속도를 단축</a:t>
            </a:r>
            <a:endParaRPr lang="en-US" altLang="ko-KR" dirty="0"/>
          </a:p>
          <a:p>
            <a:pPr lvl="1"/>
            <a:r>
              <a:rPr lang="en-US" altLang="ko-KR" dirty="0"/>
              <a:t>            - </a:t>
            </a:r>
            <a:r>
              <a:rPr lang="ko-KR" altLang="en-US" dirty="0"/>
              <a:t>생성</a:t>
            </a:r>
            <a:r>
              <a:rPr lang="en-US" altLang="ko-KR" dirty="0"/>
              <a:t>/</a:t>
            </a:r>
            <a:r>
              <a:rPr lang="ko-KR" altLang="en-US" dirty="0"/>
              <a:t>시각화 </a:t>
            </a:r>
            <a:r>
              <a:rPr lang="en-US" altLang="ko-KR" dirty="0"/>
              <a:t>(Generation):</a:t>
            </a:r>
            <a:r>
              <a:rPr lang="ko-KR" altLang="en-US" dirty="0"/>
              <a:t> </a:t>
            </a:r>
            <a:r>
              <a:rPr lang="en-US" altLang="ko-KR" dirty="0"/>
              <a:t>Gemini 3.0 Pro Image</a:t>
            </a:r>
            <a:r>
              <a:rPr lang="ko-KR" altLang="en-US" dirty="0"/>
              <a:t> 모델을 적용하여 모바일 디스플레이에 최적화된 </a:t>
            </a:r>
            <a:endParaRPr lang="en-US" altLang="ko-KR" dirty="0"/>
          </a:p>
          <a:p>
            <a:pPr lvl="1"/>
            <a:r>
              <a:rPr lang="en-US" altLang="ko-KR" dirty="0"/>
              <a:t>              </a:t>
            </a:r>
            <a:r>
              <a:rPr lang="ko-KR" altLang="en-US" dirty="0"/>
              <a:t>고해상도</a:t>
            </a:r>
            <a:r>
              <a:rPr lang="en-US" altLang="ko-KR" dirty="0"/>
              <a:t>(9:16) </a:t>
            </a:r>
            <a:r>
              <a:rPr lang="ko-KR" altLang="en-US" dirty="0"/>
              <a:t>피팅 이미지 생성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시스템 아키텍처</a:t>
            </a:r>
            <a:r>
              <a:rPr lang="en-US" altLang="ko-KR" dirty="0"/>
              <a:t>:</a:t>
            </a:r>
            <a:endParaRPr lang="ko-KR" altLang="en-US" dirty="0"/>
          </a:p>
          <a:p>
            <a:pPr lvl="1"/>
            <a:r>
              <a:rPr lang="en-US" altLang="ko-KR" dirty="0"/>
              <a:t>            - Frontend:</a:t>
            </a:r>
            <a:r>
              <a:rPr lang="ko-KR" altLang="en-US" dirty="0"/>
              <a:t> </a:t>
            </a:r>
            <a:r>
              <a:rPr lang="en-US" altLang="ko-KR" dirty="0"/>
              <a:t>React Native </a:t>
            </a:r>
            <a:r>
              <a:rPr lang="ko-KR" altLang="en-US" dirty="0"/>
              <a:t>기반의 앱 개발</a:t>
            </a:r>
            <a:endParaRPr lang="en-US" altLang="ko-KR" dirty="0"/>
          </a:p>
          <a:p>
            <a:pPr lvl="1"/>
            <a:r>
              <a:rPr lang="en-US" altLang="ko-KR" dirty="0"/>
              <a:t>            - Backend:</a:t>
            </a:r>
            <a:r>
              <a:rPr lang="ko-KR" altLang="en-US" dirty="0"/>
              <a:t> </a:t>
            </a:r>
            <a:r>
              <a:rPr lang="en-US" altLang="ko-KR" dirty="0"/>
              <a:t>Django REST Framework</a:t>
            </a:r>
            <a:r>
              <a:rPr lang="ko-KR" altLang="en-US" dirty="0"/>
              <a:t>를 활용하여 대용량 이미지 처리 및 비동기 </a:t>
            </a:r>
            <a:r>
              <a:rPr lang="en-US" altLang="ko-KR" dirty="0"/>
              <a:t>AI </a:t>
            </a:r>
            <a:r>
              <a:rPr lang="ko-KR" altLang="en-US" dirty="0"/>
              <a:t>요청을 안정적으로 관리하는 서버 구축</a:t>
            </a:r>
            <a:r>
              <a:rPr lang="en-US" altLang="ko-KR" dirty="0"/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558355" y="226379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/>
        </p:nvSpPr>
        <p:spPr>
          <a:xfrm>
            <a:off x="5270465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942624" y="909179"/>
            <a:ext cx="2929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다. 연구결과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5270465" y="1560164"/>
            <a:ext cx="6423097" cy="4555053"/>
          </a:xfrm>
          <a:prstGeom prst="rect">
            <a:avLst/>
          </a:prstGeom>
          <a:noFill/>
          <a:ln w="19050" cap="flat" cmpd="sng">
            <a:solidFill>
              <a:srgbClr val="A99A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800" b="1" dirty="0"/>
              <a:t>의류데이터 입력 시스템 및 품질 지표화</a:t>
            </a:r>
          </a:p>
          <a:p>
            <a:r>
              <a:rPr lang="ko-KR" altLang="en-US" sz="1600" dirty="0"/>
              <a:t>사용자의 상황에 따라 </a:t>
            </a:r>
            <a:r>
              <a:rPr lang="en-US" altLang="ko-KR" sz="1600" dirty="0"/>
              <a:t>AI </a:t>
            </a:r>
            <a:r>
              <a:rPr lang="ko-KR" altLang="en-US" sz="1600" dirty="0"/>
              <a:t>자동 분석과 수동 입력을 유연하게 선택할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충실도를 </a:t>
            </a:r>
            <a:r>
              <a:rPr lang="ko-KR" altLang="en-US" sz="1600" dirty="0" err="1"/>
              <a:t>시각화하여</a:t>
            </a:r>
            <a:r>
              <a:rPr lang="ko-KR" altLang="en-US" sz="1600" dirty="0"/>
              <a:t> 추천 정확도를 확보하는 시스템입니다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- Gemini</a:t>
            </a:r>
            <a:r>
              <a:rPr lang="ko-KR" altLang="en-US" sz="1600" dirty="0"/>
              <a:t>기반 속성 자동화</a:t>
            </a:r>
            <a:r>
              <a:rPr lang="en-US" altLang="ko-KR" sz="1600" dirty="0"/>
              <a:t>:</a:t>
            </a:r>
            <a:r>
              <a:rPr lang="ko-KR" altLang="en-US" sz="1600" dirty="0"/>
              <a:t> 의류 사진 등록 시 </a:t>
            </a:r>
            <a:r>
              <a:rPr lang="en-US" altLang="ko-KR" sz="1600" dirty="0"/>
              <a:t>Gemini 3.0 Flash</a:t>
            </a:r>
            <a:r>
              <a:rPr lang="ko-KR" altLang="en-US" sz="1600" dirty="0"/>
              <a:t>가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디자인</a:t>
            </a:r>
            <a:r>
              <a:rPr lang="en-US" altLang="ko-KR" sz="1600" dirty="0"/>
              <a:t>, </a:t>
            </a:r>
            <a:r>
              <a:rPr lang="ko-KR" altLang="en-US" sz="1600" dirty="0"/>
              <a:t>소재</a:t>
            </a:r>
            <a:r>
              <a:rPr lang="en-US" altLang="ko-KR" sz="1600" dirty="0"/>
              <a:t>, </a:t>
            </a:r>
            <a:r>
              <a:rPr lang="ko-KR" altLang="en-US" sz="1600" dirty="0"/>
              <a:t>패턴 등 </a:t>
            </a:r>
            <a:r>
              <a:rPr lang="en-US" altLang="ko-KR" sz="1600" dirty="0"/>
              <a:t>10</a:t>
            </a:r>
            <a:r>
              <a:rPr lang="ko-KR" altLang="en-US" sz="1600" dirty="0"/>
              <a:t>가지 이상의 메타데이터를 자동 생성하여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en-US" sz="1600" dirty="0"/>
              <a:t> 입력 편의성을 극대화했습니다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    </a:t>
            </a:r>
            <a:endParaRPr lang="en-US" altLang="ko-KR" sz="1600" dirty="0"/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데이터 품질 점수</a:t>
            </a:r>
            <a:r>
              <a:rPr lang="en-US" altLang="ko-KR" sz="1600" dirty="0"/>
              <a:t> </a:t>
            </a:r>
            <a:r>
              <a:rPr lang="ko-KR" altLang="en-US" sz="1600" dirty="0"/>
              <a:t>시각화</a:t>
            </a:r>
            <a:r>
              <a:rPr lang="en-US" altLang="ko-KR" sz="1600" dirty="0"/>
              <a:t>:</a:t>
            </a:r>
            <a:r>
              <a:rPr lang="ko-KR" altLang="en-US" sz="1600" dirty="0"/>
              <a:t> 사진 없이 수동으로 정보를 입력할 경우</a:t>
            </a:r>
            <a:r>
              <a:rPr lang="en-US" altLang="ko-KR" sz="1600" dirty="0"/>
              <a:t>,</a:t>
            </a:r>
          </a:p>
          <a:p>
            <a:r>
              <a:rPr lang="en-US" altLang="ko-KR" sz="1600" dirty="0"/>
              <a:t>      </a:t>
            </a:r>
            <a:r>
              <a:rPr lang="ko-KR" altLang="en-US" sz="1600" dirty="0"/>
              <a:t>입력된 속성의 충실도를 분석하여 진행률</a:t>
            </a:r>
            <a:r>
              <a:rPr lang="en-US" altLang="ko-KR" sz="1600" dirty="0"/>
              <a:t>(%)</a:t>
            </a:r>
            <a:r>
              <a:rPr lang="ko-KR" altLang="en-US" sz="1600" dirty="0"/>
              <a:t>로 실시간 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en-US" sz="1600" dirty="0" err="1"/>
              <a:t>시각화합니다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이를 통해 사용자는 코디 추천에 활용 가능한 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en-US" sz="1600" dirty="0"/>
              <a:t>수준인지 직관적으로 파악할 수 있습니다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체계적 데이터 정규화</a:t>
            </a:r>
            <a:r>
              <a:rPr lang="en-US" altLang="ko-KR" sz="1600" dirty="0"/>
              <a:t>:</a:t>
            </a:r>
            <a:r>
              <a:rPr lang="ko-KR" altLang="en-US" sz="1600" dirty="0"/>
              <a:t> 자동</a:t>
            </a:r>
            <a:r>
              <a:rPr lang="en-US" altLang="ko-KR" sz="1600" dirty="0"/>
              <a:t>/</a:t>
            </a:r>
            <a:r>
              <a:rPr lang="ko-KR" altLang="en-US" sz="1600" dirty="0"/>
              <a:t>수동 입력 방식과 관계없이 모든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데이터는 </a:t>
            </a:r>
            <a:r>
              <a:rPr lang="en-US" altLang="ko-KR" sz="1600" dirty="0"/>
              <a:t>3</a:t>
            </a:r>
            <a:r>
              <a:rPr lang="ko-KR" altLang="en-US" sz="1600" dirty="0"/>
              <a:t>단계 카테고리 시스템</a:t>
            </a:r>
            <a:r>
              <a:rPr lang="en-US" altLang="ko-KR" sz="1600" dirty="0"/>
              <a:t>(Top/Bottom/Outer)</a:t>
            </a:r>
            <a:r>
              <a:rPr lang="ko-KR" altLang="en-US" sz="1600" dirty="0"/>
              <a:t>으로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 err="1"/>
              <a:t>정규화되어</a:t>
            </a:r>
            <a:r>
              <a:rPr lang="ko-KR" altLang="en-US" sz="1600" dirty="0"/>
              <a:t> 개인화 </a:t>
            </a:r>
            <a:r>
              <a:rPr lang="en-US" altLang="ko-KR" sz="1600" dirty="0"/>
              <a:t>DB</a:t>
            </a:r>
            <a:r>
              <a:rPr lang="ko-KR" altLang="en-US" sz="1600" dirty="0"/>
              <a:t>에 적재됩니다</a:t>
            </a:r>
            <a:r>
              <a:rPr lang="en-US" altLang="ko-KR" sz="1600" dirty="0"/>
              <a:t>.</a:t>
            </a:r>
          </a:p>
          <a:p>
            <a:pPr lvl="0"/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0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558355" y="226379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4794C42-7128-3B37-2512-112F86AB2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22" y="1309289"/>
            <a:ext cx="1476604" cy="31993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5F4195-EF55-FC91-6276-DC7827A58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356" y="2961774"/>
            <a:ext cx="1476604" cy="31993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AA24F0B-2420-5BB1-A0F2-07DF4F354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7393" y="1309289"/>
            <a:ext cx="1476604" cy="31993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79C205-B76E-B8B6-D5C0-AC9831E31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596" y="2961774"/>
            <a:ext cx="1476604" cy="31993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6A87AA58-604A-E9D4-34F6-FD711F1E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>
            <a:extLst>
              <a:ext uri="{FF2B5EF4-FFF2-40B4-BE49-F238E27FC236}">
                <a16:creationId xmlns:a16="http://schemas.microsoft.com/office/drawing/2014/main" id="{3670D27B-E66E-4E76-BBF2-201592DD5E1A}"/>
              </a:ext>
            </a:extLst>
          </p:cNvPr>
          <p:cNvSpPr txBox="1"/>
          <p:nvPr/>
        </p:nvSpPr>
        <p:spPr>
          <a:xfrm>
            <a:off x="5270465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10">
            <a:extLst>
              <a:ext uri="{FF2B5EF4-FFF2-40B4-BE49-F238E27FC236}">
                <a16:creationId xmlns:a16="http://schemas.microsoft.com/office/drawing/2014/main" id="{FC3C77B7-79DC-1594-577E-6BB742E2B335}"/>
              </a:ext>
            </a:extLst>
          </p:cNvPr>
          <p:cNvSpPr txBox="1"/>
          <p:nvPr/>
        </p:nvSpPr>
        <p:spPr>
          <a:xfrm>
            <a:off x="942624" y="909179"/>
            <a:ext cx="2929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다. 연구결과</a:t>
            </a:r>
            <a:endParaRPr/>
          </a:p>
        </p:txBody>
      </p:sp>
      <p:sp>
        <p:nvSpPr>
          <p:cNvPr id="232" name="Google Shape;232;p10">
            <a:extLst>
              <a:ext uri="{FF2B5EF4-FFF2-40B4-BE49-F238E27FC236}">
                <a16:creationId xmlns:a16="http://schemas.microsoft.com/office/drawing/2014/main" id="{1A6F4232-C071-5119-37F6-B1965DE263DF}"/>
              </a:ext>
            </a:extLst>
          </p:cNvPr>
          <p:cNvSpPr txBox="1"/>
          <p:nvPr/>
        </p:nvSpPr>
        <p:spPr>
          <a:xfrm>
            <a:off x="5270465" y="1560164"/>
            <a:ext cx="6423097" cy="4801274"/>
          </a:xfrm>
          <a:prstGeom prst="rect">
            <a:avLst/>
          </a:prstGeom>
          <a:noFill/>
          <a:ln w="19050" cap="flat" cmpd="sng">
            <a:solidFill>
              <a:srgbClr val="A99A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800" b="1" dirty="0"/>
              <a:t>상황인지형</a:t>
            </a:r>
            <a:r>
              <a:rPr lang="en-US" altLang="ko-KR" sz="1800" b="1" dirty="0"/>
              <a:t>(Context-Aware) </a:t>
            </a:r>
            <a:r>
              <a:rPr lang="ko-KR" altLang="en-US" sz="1800" b="1" dirty="0"/>
              <a:t>및 사용자 주도형 추천 엔진</a:t>
            </a:r>
            <a:endParaRPr lang="ko-KR" altLang="en-US" sz="1800" dirty="0"/>
          </a:p>
          <a:p>
            <a:r>
              <a:rPr lang="ko-KR" altLang="en-US" sz="1600" dirty="0"/>
              <a:t>단순히 </a:t>
            </a:r>
            <a:r>
              <a:rPr lang="en-US" altLang="ko-KR" sz="1600" dirty="0"/>
              <a:t>AI</a:t>
            </a:r>
            <a:r>
              <a:rPr lang="ko-KR" altLang="en-US" sz="1600" dirty="0"/>
              <a:t>가 일방적으로 제안하는 것이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 맥락</a:t>
            </a:r>
            <a:r>
              <a:rPr lang="en-US" altLang="ko-KR" sz="1600" dirty="0"/>
              <a:t>(</a:t>
            </a:r>
            <a:r>
              <a:rPr lang="ko-KR" altLang="en-US" sz="1600" dirty="0"/>
              <a:t>날씨</a:t>
            </a:r>
            <a:r>
              <a:rPr lang="en-US" altLang="ko-KR" sz="1600" dirty="0"/>
              <a:t>, </a:t>
            </a:r>
            <a:r>
              <a:rPr lang="ko-KR" altLang="en-US" sz="1600" dirty="0"/>
              <a:t>일정</a:t>
            </a:r>
            <a:r>
              <a:rPr lang="en-US" altLang="ko-KR" sz="1600" dirty="0"/>
              <a:t>)</a:t>
            </a:r>
            <a:r>
              <a:rPr lang="ko-KR" altLang="en-US" sz="1600" dirty="0"/>
              <a:t>과 사용자의 구체적인 의도</a:t>
            </a:r>
            <a:r>
              <a:rPr lang="en-US" altLang="ko-KR" sz="1600" dirty="0"/>
              <a:t>(Intent)</a:t>
            </a:r>
            <a:r>
              <a:rPr lang="ko-KR" altLang="en-US" sz="1600" dirty="0"/>
              <a:t>를 모두 반영하는 쌍방향 추천 시스템입니다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멀티모달</a:t>
            </a:r>
            <a:r>
              <a:rPr lang="ko-KR" altLang="en-US" sz="1600" dirty="0"/>
              <a:t> 데이터 융합</a:t>
            </a:r>
            <a:r>
              <a:rPr lang="en-US" altLang="ko-KR" sz="1600" dirty="0"/>
              <a:t>:</a:t>
            </a:r>
            <a:r>
              <a:rPr lang="ko-KR" altLang="en-US" sz="1600" dirty="0"/>
              <a:t> 기상청 </a:t>
            </a:r>
            <a:r>
              <a:rPr lang="en-US" altLang="ko-KR" sz="1600" dirty="0" err="1"/>
              <a:t>OpenWeatherMap</a:t>
            </a:r>
            <a:r>
              <a:rPr lang="en-US" altLang="ko-KR" sz="1600" dirty="0"/>
              <a:t> API(</a:t>
            </a:r>
            <a:r>
              <a:rPr lang="ko-KR" altLang="en-US" sz="1600" dirty="0"/>
              <a:t>날씨</a:t>
            </a:r>
            <a:r>
              <a:rPr lang="en-US" altLang="ko-KR" sz="1600" dirty="0"/>
              <a:t>)</a:t>
            </a:r>
            <a:r>
              <a:rPr lang="ko-KR" altLang="en-US" sz="1600" dirty="0"/>
              <a:t>와 </a:t>
            </a:r>
            <a:endParaRPr lang="en-US" altLang="ko-KR" sz="1600" dirty="0"/>
          </a:p>
          <a:p>
            <a:r>
              <a:rPr lang="en-US" altLang="ko-KR" sz="1600" dirty="0"/>
              <a:t>      </a:t>
            </a:r>
            <a:r>
              <a:rPr lang="ko-KR" altLang="en-US" sz="1600" dirty="0"/>
              <a:t>구글 캘린더</a:t>
            </a:r>
            <a:r>
              <a:rPr lang="en-US" altLang="ko-KR" sz="1600" dirty="0"/>
              <a:t>(</a:t>
            </a:r>
            <a:r>
              <a:rPr lang="ko-KR" altLang="en-US" sz="1600" dirty="0"/>
              <a:t>일정</a:t>
            </a:r>
            <a:r>
              <a:rPr lang="en-US" altLang="ko-KR" sz="1600" dirty="0"/>
              <a:t>) </a:t>
            </a:r>
            <a:r>
              <a:rPr lang="ko-KR" altLang="en-US" sz="1600" dirty="0"/>
              <a:t>데이터를 수집하여 추천을 위한 환경 변수로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 활용합니다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- </a:t>
            </a:r>
            <a:r>
              <a:rPr lang="ko-KR" altLang="en-US" sz="1600" dirty="0"/>
              <a:t>능동적 스타일 요구사항 반영</a:t>
            </a:r>
            <a:r>
              <a:rPr lang="en-US" altLang="ko-KR" sz="1600" dirty="0"/>
              <a:t>:</a:t>
            </a:r>
            <a:r>
              <a:rPr lang="ko-KR" altLang="en-US" sz="1600" dirty="0"/>
              <a:t> 사용자가 </a:t>
            </a:r>
            <a:endParaRPr lang="en-US" altLang="ko-KR" sz="1600" dirty="0"/>
          </a:p>
          <a:p>
            <a:r>
              <a:rPr lang="en-US" altLang="ko-KR" sz="1600" dirty="0"/>
              <a:t>     "</a:t>
            </a:r>
            <a:r>
              <a:rPr lang="ko-KR" altLang="en-US" sz="1600" dirty="0"/>
              <a:t>오늘 좀 </a:t>
            </a:r>
            <a:r>
              <a:rPr lang="ko-KR" altLang="en-US" sz="1600" dirty="0" err="1"/>
              <a:t>캐주얼하게</a:t>
            </a:r>
            <a:r>
              <a:rPr lang="ko-KR" altLang="en-US" sz="1600" dirty="0"/>
              <a:t> 입고 싶어</a:t>
            </a:r>
            <a:r>
              <a:rPr lang="en-US" altLang="ko-KR" sz="1600" dirty="0"/>
              <a:t>"</a:t>
            </a:r>
            <a:r>
              <a:rPr lang="ko-KR" altLang="en-US" sz="1600" dirty="0"/>
              <a:t> 또는 **</a:t>
            </a:r>
            <a:r>
              <a:rPr lang="en-US" altLang="ko-KR" sz="1600" dirty="0"/>
              <a:t>"</a:t>
            </a:r>
            <a:r>
              <a:rPr lang="ko-KR" altLang="en-US" sz="1600" dirty="0"/>
              <a:t>이 베이지색 코트는 꼭</a:t>
            </a:r>
            <a:endParaRPr lang="en-US" altLang="ko-KR" sz="1600" dirty="0"/>
          </a:p>
          <a:p>
            <a:r>
              <a:rPr lang="en-US" altLang="ko-KR" sz="1600" dirty="0"/>
              <a:t>    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입을래</a:t>
            </a:r>
            <a:r>
              <a:rPr lang="en-US" altLang="ko-KR" sz="1600" dirty="0"/>
              <a:t>"**</a:t>
            </a:r>
            <a:r>
              <a:rPr lang="ko-KR" altLang="en-US" sz="1600" dirty="0"/>
              <a:t>와 같이 구체적인 요구사항을 자연어로 전달하면</a:t>
            </a:r>
            <a:r>
              <a:rPr lang="en-US" altLang="ko-KR" sz="1600" dirty="0"/>
              <a:t>, </a:t>
            </a:r>
          </a:p>
          <a:p>
            <a:r>
              <a:rPr lang="en-US" altLang="ko-KR" sz="1600" dirty="0"/>
              <a:t>     AI</a:t>
            </a:r>
            <a:r>
              <a:rPr lang="ko-KR" altLang="en-US" sz="1600" dirty="0"/>
              <a:t>가 이를 해석하여 사용자의 취향과 의도에 정확히 부합하는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코디를 우선적으로 생성합니다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  </a:t>
            </a:r>
          </a:p>
          <a:p>
            <a:r>
              <a:rPr lang="en-US" altLang="ko-KR" sz="1600" dirty="0"/>
              <a:t>    - Gemini 3.0 </a:t>
            </a:r>
            <a:r>
              <a:rPr lang="ko-KR" altLang="en-US" sz="1600" dirty="0"/>
              <a:t>기반 고도화 추론 </a:t>
            </a:r>
            <a:r>
              <a:rPr lang="en-US" altLang="ko-KR" sz="1600" dirty="0"/>
              <a:t>(High Reasoning):</a:t>
            </a:r>
            <a:r>
              <a:rPr lang="ko-KR" altLang="en-US" sz="1600" dirty="0"/>
              <a:t> 수집된 환경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변수와 사용자 요청 사항을 </a:t>
            </a:r>
            <a:r>
              <a:rPr lang="en-US" altLang="ko-KR" sz="1600" dirty="0"/>
              <a:t>Gemini 3.0</a:t>
            </a:r>
            <a:r>
              <a:rPr lang="ko-KR" altLang="en-US" sz="1600" dirty="0"/>
              <a:t>의 추론 엔진이 종합적으로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분석하여</a:t>
            </a:r>
            <a:r>
              <a:rPr lang="en-US" altLang="ko-KR" sz="1600" dirty="0"/>
              <a:t>, </a:t>
            </a:r>
            <a:r>
              <a:rPr lang="ko-KR" altLang="en-US" sz="1600" dirty="0"/>
              <a:t>논리적이고 설득력 있는 최적의 스타일링 조합을 </a:t>
            </a:r>
            <a:endParaRPr lang="en-US" altLang="ko-KR" sz="1600" dirty="0"/>
          </a:p>
          <a:p>
            <a:r>
              <a:rPr lang="en-US" altLang="ko-KR" sz="1600" dirty="0"/>
              <a:t>     </a:t>
            </a:r>
            <a:r>
              <a:rPr lang="ko-KR" altLang="en-US" sz="1600" dirty="0"/>
              <a:t>도출합니다</a:t>
            </a:r>
            <a:r>
              <a:rPr lang="en-US" altLang="ko-KR" sz="1600" dirty="0"/>
              <a:t>.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0">
            <a:extLst>
              <a:ext uri="{FF2B5EF4-FFF2-40B4-BE49-F238E27FC236}">
                <a16:creationId xmlns:a16="http://schemas.microsoft.com/office/drawing/2014/main" id="{C81ED00F-86E1-1C0C-C286-EBCD8363F2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  <p:sp>
        <p:nvSpPr>
          <p:cNvPr id="234" name="Google Shape;234;p10">
            <a:extLst>
              <a:ext uri="{FF2B5EF4-FFF2-40B4-BE49-F238E27FC236}">
                <a16:creationId xmlns:a16="http://schemas.microsoft.com/office/drawing/2014/main" id="{31C8642A-D3F5-FA16-F906-53CC0F5F174B}"/>
              </a:ext>
            </a:extLst>
          </p:cNvPr>
          <p:cNvSpPr txBox="1"/>
          <p:nvPr/>
        </p:nvSpPr>
        <p:spPr>
          <a:xfrm>
            <a:off x="558355" y="226379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7D6150-6E8A-9023-021B-7E25074C0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244" y="3953342"/>
            <a:ext cx="1220334" cy="26440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59439A5-0B93-2F9C-89EF-5FDE292E9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92" y="1309289"/>
            <a:ext cx="1220334" cy="26440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F4EDAB-BA10-6C9D-5DE4-683ED6B598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526" y="1309288"/>
            <a:ext cx="1220334" cy="26440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9CEE43-60ED-24DD-961A-71A318D4A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7810" y="1322387"/>
            <a:ext cx="1220334" cy="264405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0833DE-CAA7-300C-388F-D7C79E540A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953343"/>
            <a:ext cx="1220334" cy="26440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FD1F3EB-332A-26ED-073B-8FF04B109E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4722" y="3953342"/>
            <a:ext cx="1220334" cy="264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24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7A675612-92C4-CB9F-E5A7-1DBB1876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>
            <a:extLst>
              <a:ext uri="{FF2B5EF4-FFF2-40B4-BE49-F238E27FC236}">
                <a16:creationId xmlns:a16="http://schemas.microsoft.com/office/drawing/2014/main" id="{E7ADBEB3-40A8-3C06-562D-A61264FF9B6C}"/>
              </a:ext>
            </a:extLst>
          </p:cNvPr>
          <p:cNvSpPr txBox="1"/>
          <p:nvPr/>
        </p:nvSpPr>
        <p:spPr>
          <a:xfrm>
            <a:off x="5270465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10">
            <a:extLst>
              <a:ext uri="{FF2B5EF4-FFF2-40B4-BE49-F238E27FC236}">
                <a16:creationId xmlns:a16="http://schemas.microsoft.com/office/drawing/2014/main" id="{D62D3B7E-CFF4-BE59-30FE-29300A52345F}"/>
              </a:ext>
            </a:extLst>
          </p:cNvPr>
          <p:cNvSpPr txBox="1"/>
          <p:nvPr/>
        </p:nvSpPr>
        <p:spPr>
          <a:xfrm>
            <a:off x="942624" y="909179"/>
            <a:ext cx="2929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다. 연구결과</a:t>
            </a:r>
            <a:endParaRPr/>
          </a:p>
        </p:txBody>
      </p:sp>
      <p:sp>
        <p:nvSpPr>
          <p:cNvPr id="232" name="Google Shape;232;p10">
            <a:extLst>
              <a:ext uri="{FF2B5EF4-FFF2-40B4-BE49-F238E27FC236}">
                <a16:creationId xmlns:a16="http://schemas.microsoft.com/office/drawing/2014/main" id="{E7DA58A7-4C8C-3B11-82F0-3A291D9DF964}"/>
              </a:ext>
            </a:extLst>
          </p:cNvPr>
          <p:cNvSpPr txBox="1"/>
          <p:nvPr/>
        </p:nvSpPr>
        <p:spPr>
          <a:xfrm>
            <a:off x="5270465" y="1560164"/>
            <a:ext cx="6423097" cy="4585830"/>
          </a:xfrm>
          <a:prstGeom prst="rect">
            <a:avLst/>
          </a:prstGeom>
          <a:noFill/>
          <a:ln w="19050" cap="flat" cmpd="sng">
            <a:solidFill>
              <a:srgbClr val="A99A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ko-KR" sz="1800" dirty="0"/>
              <a:t>Gemini 3.0 Pro Image </a:t>
            </a:r>
            <a:r>
              <a:rPr lang="ko-KR" altLang="en-US" sz="1800" dirty="0"/>
              <a:t>활용 가상 </a:t>
            </a:r>
            <a:r>
              <a:rPr lang="ko-KR" altLang="en-US" sz="1800" dirty="0" err="1"/>
              <a:t>시착</a:t>
            </a:r>
            <a:r>
              <a:rPr lang="ko-KR" altLang="en-US" sz="1800" dirty="0"/>
              <a:t> 시뮬레이션 및 </a:t>
            </a:r>
            <a:endParaRPr lang="en-US" altLang="ko-KR" sz="1800" dirty="0"/>
          </a:p>
          <a:p>
            <a:pPr lvl="0"/>
            <a:r>
              <a:rPr lang="en-US" altLang="ko-KR" sz="1800" dirty="0"/>
              <a:t>UX 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r>
              <a:rPr lang="ko-KR" altLang="en-US" dirty="0" err="1"/>
              <a:t>추천받은</a:t>
            </a:r>
            <a:r>
              <a:rPr lang="ko-KR" altLang="en-US" dirty="0"/>
              <a:t> 코디를 사용자의 실제 모습에 합성하여 시각적 확신을 제공하는 핵심 솔루션입니다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강력한 아이덴티티 유지성능 활용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Gemini 3.0 Pro Image </a:t>
            </a:r>
            <a:r>
              <a:rPr lang="ko-KR" altLang="en-US" dirty="0"/>
              <a:t>모델의 압도적인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생성 성능을 활용했습니다</a:t>
            </a:r>
            <a:r>
              <a:rPr lang="en-US" altLang="ko-KR" dirty="0"/>
              <a:t>. </a:t>
            </a:r>
            <a:r>
              <a:rPr lang="ko-KR" altLang="en-US" dirty="0"/>
              <a:t>사용자의 얼굴</a:t>
            </a:r>
            <a:r>
              <a:rPr lang="en-US" altLang="ko-KR" dirty="0"/>
              <a:t>, </a:t>
            </a:r>
            <a:r>
              <a:rPr lang="ko-KR" altLang="en-US" dirty="0"/>
              <a:t>체형</a:t>
            </a:r>
            <a:r>
              <a:rPr lang="en-US" altLang="ko-KR" dirty="0"/>
              <a:t>, </a:t>
            </a:r>
            <a:r>
              <a:rPr lang="ko-KR" altLang="en-US" dirty="0"/>
              <a:t>포즈</a:t>
            </a:r>
            <a:r>
              <a:rPr lang="en-US" altLang="ko-KR" dirty="0"/>
              <a:t>, </a:t>
            </a:r>
            <a:r>
              <a:rPr lang="ko-KR" altLang="en-US" dirty="0"/>
              <a:t>배경 등 고유한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특징</a:t>
            </a:r>
            <a:r>
              <a:rPr lang="en-US" altLang="ko-KR" dirty="0"/>
              <a:t>(Identity)</a:t>
            </a:r>
            <a:r>
              <a:rPr lang="ko-KR" altLang="en-US" dirty="0"/>
              <a:t>을 완벽하게 유지하면서 의류 영역만 자연스럽게 교체하여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사실적인 피팅 결과를 구현합니다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대기 시간 경험 개선을 위한 </a:t>
            </a:r>
            <a:r>
              <a:rPr lang="en-US" altLang="ko-KR" dirty="0"/>
              <a:t>Progressive UX </a:t>
            </a:r>
            <a:r>
              <a:rPr lang="ko-KR" altLang="en-US" dirty="0"/>
              <a:t>적용</a:t>
            </a:r>
            <a:r>
              <a:rPr lang="en-US" altLang="ko-KR" dirty="0"/>
              <a:t>:</a:t>
            </a:r>
            <a:r>
              <a:rPr lang="ko-KR" altLang="en-US" dirty="0"/>
              <a:t> 이미지 생성 대기시간</a:t>
            </a:r>
            <a:endParaRPr lang="en-US" altLang="ko-KR" dirty="0"/>
          </a:p>
          <a:p>
            <a:r>
              <a:rPr lang="ko-KR" altLang="en-US" dirty="0"/>
              <a:t>     동안 사용자가 이탈하지 않도록</a:t>
            </a:r>
            <a:r>
              <a:rPr lang="en-US" altLang="ko-KR" dirty="0"/>
              <a:t>, </a:t>
            </a:r>
            <a:r>
              <a:rPr lang="ko-KR" altLang="en-US" dirty="0"/>
              <a:t>원본 전신사진 위에 투명도가 서서히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 조절되는 레이어를 적용했습니다</a:t>
            </a:r>
            <a:r>
              <a:rPr lang="en-US" altLang="ko-KR" dirty="0"/>
              <a:t>. </a:t>
            </a:r>
            <a:r>
              <a:rPr lang="ko-KR" altLang="en-US" dirty="0"/>
              <a:t>이는 마치 사진이 실시간으로 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현상되는듯한 시각적 피드백을 제공하여 체감 대기 시간을 단축시키는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효과를 가져옵니다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모바일 최적화 고해상도</a:t>
            </a:r>
            <a:r>
              <a:rPr lang="en-US" altLang="ko-KR" dirty="0"/>
              <a:t>(9:16) </a:t>
            </a:r>
            <a:r>
              <a:rPr lang="ko-KR" altLang="en-US" dirty="0"/>
              <a:t>결과물</a:t>
            </a:r>
            <a:r>
              <a:rPr lang="en-US" altLang="ko-KR" dirty="0"/>
              <a:t>:</a:t>
            </a:r>
            <a:r>
              <a:rPr lang="ko-KR" altLang="en-US" dirty="0"/>
              <a:t> 모바일 디스플레이 비율에 맞춰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의류의 재질감</a:t>
            </a:r>
            <a:r>
              <a:rPr lang="en-US" altLang="ko-KR" dirty="0"/>
              <a:t>, </a:t>
            </a:r>
            <a:r>
              <a:rPr lang="ko-KR" altLang="en-US" dirty="0"/>
              <a:t>주름</a:t>
            </a:r>
            <a:r>
              <a:rPr lang="en-US" altLang="ko-KR" dirty="0"/>
              <a:t>, </a:t>
            </a:r>
            <a:r>
              <a:rPr lang="ko-KR" altLang="en-US" dirty="0"/>
              <a:t>빛 반사까지 이질감 없이 표현된 고화질 이미지를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ko-KR" altLang="en-US" dirty="0"/>
              <a:t>제공하여 </a:t>
            </a:r>
            <a:r>
              <a:rPr lang="ko-KR" altLang="en-US" dirty="0" err="1"/>
              <a:t>몰입감</a:t>
            </a:r>
            <a:r>
              <a:rPr lang="ko-KR" altLang="en-US" dirty="0"/>
              <a:t> 높은 사용자 경험을 완성합니다</a:t>
            </a:r>
            <a:r>
              <a:rPr lang="en-US" altLang="ko-KR" dirty="0"/>
              <a:t>.</a:t>
            </a:r>
          </a:p>
          <a:p>
            <a:pPr lvl="0"/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0">
            <a:extLst>
              <a:ext uri="{FF2B5EF4-FFF2-40B4-BE49-F238E27FC236}">
                <a16:creationId xmlns:a16="http://schemas.microsoft.com/office/drawing/2014/main" id="{A0658103-8467-314C-467C-75EAC565EB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11</a:t>
            </a:fld>
            <a:endParaRPr dirty="0"/>
          </a:p>
        </p:txBody>
      </p:sp>
      <p:sp>
        <p:nvSpPr>
          <p:cNvPr id="234" name="Google Shape;234;p10">
            <a:extLst>
              <a:ext uri="{FF2B5EF4-FFF2-40B4-BE49-F238E27FC236}">
                <a16:creationId xmlns:a16="http://schemas.microsoft.com/office/drawing/2014/main" id="{35BCF9E2-4663-0959-7F39-586795B8F437}"/>
              </a:ext>
            </a:extLst>
          </p:cNvPr>
          <p:cNvSpPr txBox="1"/>
          <p:nvPr/>
        </p:nvSpPr>
        <p:spPr>
          <a:xfrm>
            <a:off x="558355" y="226379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66634A-6D7E-4A9D-2845-18850DE04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22" y="1530424"/>
            <a:ext cx="1476604" cy="31993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363BDE-BD4D-AEAA-FC9B-305A763AC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640" y="1530424"/>
            <a:ext cx="1476604" cy="31993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11528F2-0206-D029-3ADE-19670169F5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481" y="1530424"/>
            <a:ext cx="1476604" cy="31993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F10F80-726E-EBF5-0468-298097F88E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004" y="3351212"/>
            <a:ext cx="1476604" cy="31993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4ACF50-BC39-87CD-32DF-6A800FA52C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179" y="3351212"/>
            <a:ext cx="1476604" cy="319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188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>
          <a:extLst>
            <a:ext uri="{FF2B5EF4-FFF2-40B4-BE49-F238E27FC236}">
              <a16:creationId xmlns:a16="http://schemas.microsoft.com/office/drawing/2014/main" id="{C3C2F352-DBD9-2E5F-4B7F-BC1A1CDE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>
            <a:extLst>
              <a:ext uri="{FF2B5EF4-FFF2-40B4-BE49-F238E27FC236}">
                <a16:creationId xmlns:a16="http://schemas.microsoft.com/office/drawing/2014/main" id="{BDF0CFA9-F675-8597-D766-DA208F6D85C6}"/>
              </a:ext>
            </a:extLst>
          </p:cNvPr>
          <p:cNvSpPr txBox="1"/>
          <p:nvPr/>
        </p:nvSpPr>
        <p:spPr>
          <a:xfrm>
            <a:off x="5270465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10">
            <a:extLst>
              <a:ext uri="{FF2B5EF4-FFF2-40B4-BE49-F238E27FC236}">
                <a16:creationId xmlns:a16="http://schemas.microsoft.com/office/drawing/2014/main" id="{E7C72881-3D45-BB2F-CCDA-2364F3666FFC}"/>
              </a:ext>
            </a:extLst>
          </p:cNvPr>
          <p:cNvSpPr txBox="1"/>
          <p:nvPr/>
        </p:nvSpPr>
        <p:spPr>
          <a:xfrm>
            <a:off x="942624" y="909179"/>
            <a:ext cx="292980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다. 연구결과</a:t>
            </a:r>
            <a:endParaRPr/>
          </a:p>
        </p:txBody>
      </p:sp>
      <p:sp>
        <p:nvSpPr>
          <p:cNvPr id="232" name="Google Shape;232;p10">
            <a:extLst>
              <a:ext uri="{FF2B5EF4-FFF2-40B4-BE49-F238E27FC236}">
                <a16:creationId xmlns:a16="http://schemas.microsoft.com/office/drawing/2014/main" id="{EC6C3B39-2354-ECDC-D9B6-E8E4BA09C73E}"/>
              </a:ext>
            </a:extLst>
          </p:cNvPr>
          <p:cNvSpPr txBox="1"/>
          <p:nvPr/>
        </p:nvSpPr>
        <p:spPr>
          <a:xfrm>
            <a:off x="5270465" y="1560164"/>
            <a:ext cx="6423097" cy="4154943"/>
          </a:xfrm>
          <a:prstGeom prst="rect">
            <a:avLst/>
          </a:prstGeom>
          <a:noFill/>
          <a:ln w="19050" cap="flat" cmpd="sng">
            <a:solidFill>
              <a:srgbClr val="A99A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800" dirty="0"/>
              <a:t>몰입형 </a:t>
            </a:r>
            <a:r>
              <a:rPr lang="en-US" altLang="ko-KR" sz="1800" dirty="0"/>
              <a:t>UX </a:t>
            </a:r>
            <a:r>
              <a:rPr lang="ko-KR" altLang="en-US" sz="1800" dirty="0"/>
              <a:t>디자인</a:t>
            </a:r>
            <a:r>
              <a:rPr lang="en-US" altLang="ko-KR" sz="1800" dirty="0"/>
              <a:t>: </a:t>
            </a:r>
            <a:r>
              <a:rPr lang="ko-KR" altLang="en-US" sz="1800" dirty="0"/>
              <a:t>뮤직 플레이어 컨셉의 </a:t>
            </a:r>
            <a:r>
              <a:rPr lang="en-US" altLang="ko-KR" sz="1800" dirty="0"/>
              <a:t>'Daily Look' </a:t>
            </a:r>
            <a:r>
              <a:rPr lang="ko-KR" altLang="en-US" sz="1800" dirty="0"/>
              <a:t>아카이브</a:t>
            </a:r>
            <a:endParaRPr lang="en-US" altLang="ko-KR" sz="1800" dirty="0"/>
          </a:p>
          <a:p>
            <a:r>
              <a:rPr lang="ko-KR" altLang="en-US" dirty="0"/>
              <a:t>단순한 리스트 형태의 히스토리 뷰를 탈피하고</a:t>
            </a:r>
            <a:r>
              <a:rPr lang="en-US" altLang="ko-KR" dirty="0"/>
              <a:t>, </a:t>
            </a:r>
            <a:r>
              <a:rPr lang="ko-KR" altLang="en-US" dirty="0"/>
              <a:t>나만의 패션 앨범을 감상하는</a:t>
            </a:r>
            <a:endParaRPr lang="en-US" altLang="ko-KR" dirty="0"/>
          </a:p>
          <a:p>
            <a:r>
              <a:rPr lang="ko-KR" altLang="en-US" dirty="0"/>
              <a:t>듯한 독창적인 경험을 제공하는 </a:t>
            </a:r>
            <a:r>
              <a:rPr lang="en-US" altLang="ko-KR" dirty="0"/>
              <a:t>Style Log</a:t>
            </a:r>
            <a:r>
              <a:rPr lang="ko-KR" altLang="en-US" dirty="0"/>
              <a:t> 인터페이스입니다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뮤직 플레이어 </a:t>
            </a:r>
            <a:r>
              <a:rPr lang="ko-KR" altLang="en-US" dirty="0" err="1"/>
              <a:t>메타포</a:t>
            </a:r>
            <a:r>
              <a:rPr lang="ko-KR" altLang="en-US" dirty="0"/>
              <a:t> 적용</a:t>
            </a:r>
            <a:r>
              <a:rPr lang="en-US" altLang="ko-KR" dirty="0"/>
              <a:t>:</a:t>
            </a:r>
            <a:r>
              <a:rPr lang="ko-KR" altLang="en-US" dirty="0"/>
              <a:t> 저장된 코디 기록</a:t>
            </a:r>
            <a:r>
              <a:rPr lang="en-US" altLang="ko-KR" dirty="0"/>
              <a:t>(Outfit History)</a:t>
            </a:r>
            <a:r>
              <a:rPr lang="ko-KR" altLang="en-US" dirty="0"/>
              <a:t>을 음악 앨범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 넘기듯 탐색할 수 있는 </a:t>
            </a:r>
            <a:r>
              <a:rPr lang="en-US" altLang="ko-KR" dirty="0"/>
              <a:t>Cover Flow UI</a:t>
            </a:r>
            <a:r>
              <a:rPr lang="ko-KR" altLang="en-US" dirty="0"/>
              <a:t>를 구현했습니다</a:t>
            </a:r>
            <a:r>
              <a:rPr lang="en-US" altLang="ko-KR" dirty="0"/>
              <a:t>. </a:t>
            </a:r>
            <a:r>
              <a:rPr lang="ko-KR" altLang="en-US" dirty="0"/>
              <a:t>앨범 아트처럼 코디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사진을 전면에 배치하여 시각적 몰입감을 극대화했습니다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고도화된 제스처 인터랙션</a:t>
            </a:r>
            <a:r>
              <a:rPr lang="en-US" altLang="ko-KR" dirty="0"/>
              <a:t>:</a:t>
            </a:r>
            <a:r>
              <a:rPr lang="ko-KR" altLang="en-US" dirty="0"/>
              <a:t> 하단 탐색 바를 롱 </a:t>
            </a:r>
            <a:r>
              <a:rPr lang="ko-KR" altLang="en-US" dirty="0" err="1"/>
              <a:t>프레스하여</a:t>
            </a:r>
            <a:r>
              <a:rPr lang="ko-KR" altLang="en-US" dirty="0"/>
              <a:t> </a:t>
            </a:r>
            <a:r>
              <a:rPr lang="ko-KR" altLang="en-US" dirty="0" err="1"/>
              <a:t>드래그할</a:t>
            </a:r>
            <a:r>
              <a:rPr lang="ko-KR" altLang="en-US" dirty="0"/>
              <a:t> 시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유튜브</a:t>
            </a:r>
            <a:r>
              <a:rPr lang="en-US" altLang="ko-KR" dirty="0"/>
              <a:t>(YouTube)</a:t>
            </a:r>
            <a:r>
              <a:rPr lang="ko-KR" altLang="en-US" dirty="0"/>
              <a:t>의 구간 탐색처럼 해당 지점의 코디 썸네일을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팝업</a:t>
            </a:r>
            <a:r>
              <a:rPr lang="en-US" altLang="ko-KR" dirty="0"/>
              <a:t>(Preview)</a:t>
            </a:r>
            <a:r>
              <a:rPr lang="ko-KR" altLang="en-US" dirty="0"/>
              <a:t>으로 노출합니다</a:t>
            </a:r>
            <a:r>
              <a:rPr lang="en-US" altLang="ko-KR" dirty="0"/>
              <a:t>. </a:t>
            </a:r>
            <a:r>
              <a:rPr lang="ko-KR" altLang="en-US" dirty="0"/>
              <a:t>이를 통해 수많은 기록 중 원하는 날짜의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코디를 직관적이고 빠르게 찾을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유연한 뷰 모드 전환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[Grid]</a:t>
            </a:r>
            <a:r>
              <a:rPr lang="ko-KR" altLang="en-US" dirty="0"/>
              <a:t> 버튼을 통해 상세 뷰와 그리드 뷰</a:t>
            </a:r>
            <a:r>
              <a:rPr lang="en-US" altLang="ko-KR" dirty="0"/>
              <a:t>(</a:t>
            </a:r>
            <a:r>
              <a:rPr lang="ko-KR" altLang="en-US" dirty="0"/>
              <a:t>모아보기</a:t>
            </a:r>
            <a:r>
              <a:rPr lang="en-US" altLang="ko-KR" dirty="0"/>
              <a:t>) </a:t>
            </a:r>
            <a:r>
              <a:rPr lang="ko-KR" altLang="en-US" dirty="0"/>
              <a:t>간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 즉각적인 전환이 가능하며</a:t>
            </a:r>
            <a:r>
              <a:rPr lang="en-US" altLang="ko-KR" dirty="0"/>
              <a:t>, [Skip]</a:t>
            </a:r>
            <a:r>
              <a:rPr lang="ko-KR" altLang="en-US" dirty="0"/>
              <a:t> 컨트롤러</a:t>
            </a:r>
            <a:r>
              <a:rPr lang="en-US" altLang="ko-KR" dirty="0"/>
              <a:t>(5</a:t>
            </a:r>
            <a:r>
              <a:rPr lang="ko-KR" altLang="en-US" dirty="0"/>
              <a:t>단위 건너뛰기</a:t>
            </a:r>
            <a:r>
              <a:rPr lang="en-US" altLang="ko-KR" dirty="0"/>
              <a:t>)</a:t>
            </a:r>
            <a:r>
              <a:rPr lang="ko-KR" altLang="en-US" dirty="0"/>
              <a:t>를 통해 방대한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데이터 내에서도 효율적인 탐색이 가능하도록 설계했습니다</a:t>
            </a:r>
            <a:r>
              <a:rPr lang="en-US" altLang="ko-KR" dirty="0"/>
              <a:t>.</a:t>
            </a:r>
          </a:p>
          <a:p>
            <a:pPr lvl="0"/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10">
            <a:extLst>
              <a:ext uri="{FF2B5EF4-FFF2-40B4-BE49-F238E27FC236}">
                <a16:creationId xmlns:a16="http://schemas.microsoft.com/office/drawing/2014/main" id="{E1B9BFAB-EE82-A0BC-0DE6-20746DE034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  <p:sp>
        <p:nvSpPr>
          <p:cNvPr id="234" name="Google Shape;234;p10">
            <a:extLst>
              <a:ext uri="{FF2B5EF4-FFF2-40B4-BE49-F238E27FC236}">
                <a16:creationId xmlns:a16="http://schemas.microsoft.com/office/drawing/2014/main" id="{8C89D7C0-FC6D-B3DB-ECC3-718D267A4CD9}"/>
              </a:ext>
            </a:extLst>
          </p:cNvPr>
          <p:cNvSpPr txBox="1"/>
          <p:nvPr/>
        </p:nvSpPr>
        <p:spPr>
          <a:xfrm>
            <a:off x="558355" y="226379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548DDA-F67F-D98E-6C18-5949E008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45" y="1530424"/>
            <a:ext cx="1624264" cy="35192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84F3F6-46D3-E5F3-E6E3-9A8CC34AD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073" y="1530423"/>
            <a:ext cx="1624264" cy="35192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BC9206-D396-D990-9E16-9CE7BAA6A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0809" y="2916861"/>
            <a:ext cx="1624264" cy="351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94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/>
        </p:nvSpPr>
        <p:spPr>
          <a:xfrm>
            <a:off x="5270465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652168" y="1053441"/>
            <a:ext cx="576314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라. 타시제품과의 차별성 </a:t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780066" y="1507100"/>
            <a:ext cx="3199831" cy="4779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지속가능성</a:t>
            </a:r>
            <a:endParaRPr b="1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ctr"/>
            <a:r>
              <a:rPr lang="en-US" altLang="ko-KR" sz="1600" b="1" dirty="0"/>
              <a:t>Slow Fashion &amp; Circular Economy </a:t>
            </a:r>
            <a:r>
              <a:rPr lang="ko-KR" altLang="en-US" sz="1600" b="1" dirty="0"/>
              <a:t>실현</a:t>
            </a:r>
            <a:endParaRPr lang="en-US" altLang="ko-KR" sz="1600" b="1" dirty="0"/>
          </a:p>
          <a:p>
            <a:pPr lvl="0" algn="ctr"/>
            <a:endParaRPr lang="en-US" sz="1600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ko-KR" altLang="en-US" b="1" dirty="0"/>
              <a:t>의류 폐기물 감소 및 순환 패션 기여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ko-KR" altLang="en-US" dirty="0"/>
              <a:t>무분별한 신규 구매를 유도하는 기존 쇼핑몰 기반 피팅 서비스와 달리</a:t>
            </a:r>
            <a:r>
              <a:rPr lang="en-US" altLang="ko-KR" dirty="0"/>
              <a:t>, </a:t>
            </a:r>
            <a:r>
              <a:rPr lang="ko-KR" altLang="en-US" dirty="0"/>
              <a:t>사용자가 이미 보유한 옷의 활용도를 극대화하는 데 초점을 둡니다</a:t>
            </a:r>
            <a:r>
              <a:rPr lang="en-US" altLang="ko-KR" dirty="0"/>
              <a:t>. </a:t>
            </a:r>
          </a:p>
          <a:p>
            <a:pPr lvl="0"/>
            <a:r>
              <a:rPr lang="en-US" altLang="ko-KR" dirty="0"/>
              <a:t>"</a:t>
            </a:r>
            <a:r>
              <a:rPr lang="ko-KR" altLang="en-US" dirty="0"/>
              <a:t>입을 옷이 없다</a:t>
            </a:r>
            <a:r>
              <a:rPr lang="en-US" altLang="ko-KR" dirty="0"/>
              <a:t>"</a:t>
            </a:r>
            <a:r>
              <a:rPr lang="ko-KR" altLang="en-US" dirty="0"/>
              <a:t>는 이유로 발생하는 불필요한 중복 구매를 방지하여 의류 폐기물 감소에 기여합니다</a:t>
            </a:r>
            <a:r>
              <a:rPr lang="en-US" altLang="ko-KR" dirty="0"/>
              <a:t>.</a:t>
            </a:r>
          </a:p>
          <a:p>
            <a:pPr lvl="0"/>
            <a:endParaRPr lang="en-US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ko-KR" altLang="en-US" b="1" dirty="0"/>
              <a:t>옷장의 디지털 자산화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ko-KR" altLang="en-US" dirty="0"/>
              <a:t>방치된 옷들을 디지털 데이터로 전환하고 새로운 코디 조합을 발견하게 함으로써</a:t>
            </a:r>
            <a:r>
              <a:rPr lang="en-US" altLang="ko-KR" dirty="0"/>
              <a:t>, </a:t>
            </a:r>
            <a:r>
              <a:rPr lang="ko-KR" altLang="en-US" dirty="0"/>
              <a:t>물리적 옷장의 수명을 연장하는 친환경적 의류 소비 문화를 선도합니다</a:t>
            </a:r>
            <a:r>
              <a:rPr lang="en-US" altLang="ko-KR" dirty="0"/>
              <a:t>.</a:t>
            </a:r>
            <a:endParaRPr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13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4467017" y="1507100"/>
            <a:ext cx="3199831" cy="4779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접근성</a:t>
            </a:r>
            <a:endParaRPr b="1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ctr"/>
            <a:r>
              <a:rPr lang="ko-KR" altLang="en-US" sz="1600" b="1" dirty="0"/>
              <a:t>퍼스널 스타일링의 기술적 민주화</a:t>
            </a:r>
            <a:endParaRPr lang="en-US" altLang="ko-KR" sz="1600" b="1" dirty="0"/>
          </a:p>
          <a:p>
            <a:pPr lvl="0" algn="ctr"/>
            <a:endParaRPr lang="en-US" sz="1600" b="1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ko-KR" altLang="en-US" b="1" dirty="0"/>
              <a:t>모바일 네이티브 최적화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0"/>
            <a:r>
              <a:rPr lang="en-US" altLang="ko-KR" dirty="0"/>
              <a:t>PC</a:t>
            </a:r>
            <a:r>
              <a:rPr lang="ko-KR" altLang="en-US" dirty="0"/>
              <a:t>나 키오스크 등 특수 장비가 필요한 기존 가상 피팅 기술과 달리</a:t>
            </a:r>
            <a:r>
              <a:rPr lang="en-US" altLang="ko-KR" dirty="0"/>
              <a:t>, </a:t>
            </a:r>
          </a:p>
          <a:p>
            <a:pPr lvl="0"/>
            <a:r>
              <a:rPr lang="en-US" altLang="ko-KR" dirty="0"/>
              <a:t>Gemini 3.0 Flash/Pro </a:t>
            </a:r>
            <a:r>
              <a:rPr lang="ko-KR" altLang="en-US" dirty="0"/>
              <a:t>모델을 활용하여 일반 스마트폰 환경에서도 고품질의 피팅 서비스를 이용할 수 있습니다</a:t>
            </a:r>
            <a:r>
              <a:rPr lang="en-US" altLang="ko-KR" dirty="0"/>
              <a:t>.</a:t>
            </a:r>
          </a:p>
          <a:p>
            <a:pPr lvl="0"/>
            <a:endParaRPr lang="en-US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ko-KR" altLang="en-US" b="1" dirty="0"/>
              <a:t>진입 장벽을 낮춘 </a:t>
            </a:r>
            <a:r>
              <a:rPr lang="en-US" altLang="ko-KR" b="1" dirty="0"/>
              <a:t>UX </a:t>
            </a:r>
            <a:r>
              <a:rPr lang="ko-KR" altLang="en-US" b="1" dirty="0"/>
              <a:t>설계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0"/>
            <a:r>
              <a:rPr lang="ko-KR" altLang="en-US" dirty="0"/>
              <a:t>일일이 정보를 입력해야 했던 기존 디지털 옷장 앱의 불편함을 </a:t>
            </a:r>
            <a:r>
              <a:rPr lang="en-US" altLang="ko-KR" dirty="0"/>
              <a:t>AI </a:t>
            </a:r>
            <a:r>
              <a:rPr lang="ko-KR" altLang="en-US" dirty="0"/>
              <a:t>자동 속성 분석으로 해결했습니다</a:t>
            </a:r>
            <a:r>
              <a:rPr lang="en-US" altLang="ko-KR" dirty="0"/>
              <a:t>. 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뮤직 플레이어 형태의 </a:t>
            </a:r>
            <a:r>
              <a:rPr lang="en-US" altLang="ko-KR" dirty="0"/>
              <a:t>'Style Log'</a:t>
            </a:r>
            <a:r>
              <a:rPr lang="ko-KR" altLang="en-US" dirty="0"/>
              <a:t> </a:t>
            </a:r>
            <a:r>
              <a:rPr lang="en-US" altLang="ko-KR" dirty="0"/>
              <a:t>UI</a:t>
            </a:r>
            <a:r>
              <a:rPr lang="ko-KR" altLang="en-US" dirty="0"/>
              <a:t>를 통해 전문 지식 없이도 누구나 직관적이고 즐겁게 자신의 스타일을 탐색할 수 있습니다</a:t>
            </a:r>
            <a:r>
              <a:rPr lang="en-US" altLang="ko-KR" dirty="0"/>
              <a:t>.</a:t>
            </a:r>
            <a:endParaRPr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8153969" y="1507100"/>
            <a:ext cx="3199831" cy="4779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2160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확산 가능성</a:t>
            </a:r>
            <a:endParaRPr sz="1800" b="1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 algn="ctr"/>
            <a:r>
              <a:rPr lang="ko-KR" altLang="en-US" sz="1600" b="1" dirty="0"/>
              <a:t>패션 </a:t>
            </a:r>
            <a:r>
              <a:rPr lang="ko-KR" altLang="en-US" sz="1600" b="1" dirty="0" err="1"/>
              <a:t>버티컬</a:t>
            </a:r>
            <a:r>
              <a:rPr lang="ko-KR" altLang="en-US" sz="1600" b="1" dirty="0"/>
              <a:t> 플랫폼으로의 확장</a:t>
            </a:r>
            <a:endParaRPr lang="en-US" altLang="ko-KR" sz="1600" b="1" dirty="0"/>
          </a:p>
          <a:p>
            <a:pPr lvl="0" algn="ctr"/>
            <a:endParaRPr lang="en-US" sz="1600" b="1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ko-KR" altLang="en-US" b="1" dirty="0"/>
              <a:t>초개인화 커머스 연동</a:t>
            </a:r>
            <a:r>
              <a:rPr lang="en-US" altLang="ko-KR" b="1" dirty="0"/>
              <a:t>:</a:t>
            </a:r>
          </a:p>
          <a:p>
            <a:pPr lvl="0"/>
            <a:r>
              <a:rPr lang="ko-KR" altLang="en-US" dirty="0"/>
              <a:t>보유한 옷 데이터와 어울리는 상품을 역으로 제안하는 </a:t>
            </a:r>
            <a:r>
              <a:rPr lang="en-US" altLang="ko-KR" dirty="0"/>
              <a:t>'Mix &amp; Match' </a:t>
            </a:r>
            <a:r>
              <a:rPr lang="ko-KR" altLang="en-US" dirty="0"/>
              <a:t>커머스로 확장이 가능합니다</a:t>
            </a:r>
            <a:r>
              <a:rPr lang="en-US" altLang="ko-KR" dirty="0"/>
              <a:t>. </a:t>
            </a:r>
          </a:p>
          <a:p>
            <a:pPr lvl="0"/>
            <a:r>
              <a:rPr lang="ko-KR" altLang="en-US" dirty="0"/>
              <a:t>단순 광고가 아닌</a:t>
            </a:r>
            <a:r>
              <a:rPr lang="en-US" altLang="ko-KR" dirty="0"/>
              <a:t>, "</a:t>
            </a:r>
            <a:r>
              <a:rPr lang="ko-KR" altLang="en-US" dirty="0"/>
              <a:t>내 옷과 </a:t>
            </a:r>
            <a:r>
              <a:rPr lang="en-US" altLang="ko-KR" dirty="0"/>
              <a:t>100% </a:t>
            </a:r>
            <a:r>
              <a:rPr lang="ko-KR" altLang="en-US" dirty="0"/>
              <a:t>어울리는 아이템</a:t>
            </a:r>
            <a:r>
              <a:rPr lang="en-US" altLang="ko-KR" dirty="0"/>
              <a:t>"</a:t>
            </a:r>
            <a:r>
              <a:rPr lang="ko-KR" altLang="en-US" dirty="0"/>
              <a:t>을 추천함으로써 높은 구매 전환율을 기대할 수 있습니다</a:t>
            </a:r>
            <a:r>
              <a:rPr lang="en-US" altLang="ko-KR" dirty="0"/>
              <a:t>.</a:t>
            </a:r>
          </a:p>
          <a:p>
            <a:pPr lvl="0"/>
            <a:endParaRPr lang="en-US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/>
            <a:r>
              <a:rPr lang="ko-KR" altLang="en-US" b="1" dirty="0"/>
              <a:t>소셜 스타일링 커뮤니티화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endParaRPr lang="en-US" altLang="ko-KR" b="1" dirty="0"/>
          </a:p>
          <a:p>
            <a:pPr lvl="0"/>
            <a:r>
              <a:rPr lang="ko-KR" altLang="en-US" dirty="0"/>
              <a:t>생성된 가상 피팅 이미지를 공유하고</a:t>
            </a:r>
            <a:r>
              <a:rPr lang="en-US" altLang="ko-KR" dirty="0"/>
              <a:t>, </a:t>
            </a:r>
            <a:r>
              <a:rPr lang="ko-KR" altLang="en-US" dirty="0"/>
              <a:t>서로 코디를 제안해주는 소셜 기능</a:t>
            </a:r>
            <a:r>
              <a:rPr lang="en-US" altLang="ko-KR" dirty="0"/>
              <a:t> </a:t>
            </a:r>
            <a:r>
              <a:rPr lang="ko-KR" altLang="en-US" dirty="0"/>
              <a:t>도입이 용이합니다</a:t>
            </a:r>
            <a:r>
              <a:rPr lang="en-US" altLang="ko-KR" dirty="0"/>
              <a:t>. </a:t>
            </a:r>
            <a:r>
              <a:rPr lang="ko-KR" altLang="en-US" dirty="0"/>
              <a:t>사용자가 자발적으로 콘텐츠를 생산하고 확산시키는 네트워크 효과를 통해 급격한 사용자 유입 확장이 가능합니다</a:t>
            </a:r>
            <a:r>
              <a:rPr lang="en-US" altLang="ko-KR" dirty="0"/>
              <a:t>.</a:t>
            </a:r>
            <a:endParaRPr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558355" y="226379"/>
            <a:ext cx="38555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과제 연구 내용 및 결과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/>
          <p:nvPr/>
        </p:nvSpPr>
        <p:spPr>
          <a:xfrm>
            <a:off x="531705" y="223991"/>
            <a:ext cx="25891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예산집행 현황</a:t>
            </a:r>
            <a:endParaRPr/>
          </a:p>
        </p:txBody>
      </p:sp>
      <p:graphicFrame>
        <p:nvGraphicFramePr>
          <p:cNvPr id="274" name="Google Shape;274;p14"/>
          <p:cNvGraphicFramePr/>
          <p:nvPr>
            <p:extLst>
              <p:ext uri="{D42A27DB-BD31-4B8C-83A1-F6EECF244321}">
                <p14:modId xmlns:p14="http://schemas.microsoft.com/office/powerpoint/2010/main" val="3108043776"/>
              </p:ext>
            </p:extLst>
          </p:nvPr>
        </p:nvGraphicFramePr>
        <p:xfrm>
          <a:off x="1056000" y="1908849"/>
          <a:ext cx="10080000" cy="3266590"/>
        </p:xfrm>
        <a:graphic>
          <a:graphicData uri="http://schemas.openxmlformats.org/drawingml/2006/table">
            <a:tbl>
              <a:tblPr firstRow="1" bandRow="1">
                <a:noFill/>
                <a:tableStyleId>{389C5FFD-8B3B-43AF-B028-0B97AE8B4569}</a:tableStyleId>
              </a:tblPr>
              <a:tblGrid>
                <a:gridCol w="2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F6F4F0"/>
                          </a:solidFill>
                        </a:rPr>
                        <a:t>지출항목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99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F6F4F0"/>
                          </a:solidFill>
                        </a:rPr>
                        <a:t>예산액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99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F6F4F0"/>
                          </a:solidFill>
                        </a:rPr>
                        <a:t>집행액</a:t>
                      </a:r>
                      <a:endParaRPr sz="1800" b="1" u="none" strike="noStrike" cap="none">
                        <a:solidFill>
                          <a:srgbClr val="F6F4F0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99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F6F4F0"/>
                          </a:solidFill>
                        </a:rPr>
                        <a:t>잔액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99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F6F4F0"/>
                          </a:solidFill>
                        </a:rPr>
                        <a:t>집행내역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99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333333"/>
                          </a:solidFill>
                        </a:rPr>
                        <a:t>재료비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0" dirty="0"/>
                        <a:t>161,452</a:t>
                      </a:r>
                      <a:endParaRPr lang="ko-KR" altLang="en-US" b="0" dirty="0"/>
                    </a:p>
                  </a:txBody>
                  <a:tcPr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b="0" dirty="0"/>
                        <a:t>161,452</a:t>
                      </a:r>
                      <a:endParaRPr lang="ko-KR" altLang="en-US" b="0" dirty="0"/>
                    </a:p>
                  </a:txBody>
                  <a:tcPr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0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200" dirty="0"/>
                        <a:t>생성형 </a:t>
                      </a:r>
                      <a:r>
                        <a:rPr lang="en-US" altLang="ko-KR" sz="1200" dirty="0"/>
                        <a:t>AI </a:t>
                      </a:r>
                      <a:r>
                        <a:rPr lang="ko-KR" altLang="en-US" sz="1200" dirty="0"/>
                        <a:t>개발 도구</a:t>
                      </a:r>
                      <a:r>
                        <a:rPr lang="en-US" altLang="ko-KR" sz="1200" dirty="0"/>
                        <a:t>(Claude MAX) </a:t>
                      </a:r>
                      <a:r>
                        <a:rPr lang="ko-KR" altLang="en-US" sz="1200" dirty="0"/>
                        <a:t>구독료 </a:t>
                      </a:r>
                      <a:r>
                        <a:rPr lang="en-US" altLang="ko-KR" sz="1200" dirty="0"/>
                        <a:t>(11</a:t>
                      </a:r>
                      <a:r>
                        <a:rPr lang="ko-KR" altLang="en-US" sz="1200" dirty="0"/>
                        <a:t>월분</a:t>
                      </a:r>
                      <a:r>
                        <a:rPr lang="en-US" altLang="ko-KR" sz="1200" dirty="0"/>
                        <a:t>)</a:t>
                      </a:r>
                      <a:endParaRPr sz="12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333333"/>
                          </a:solidFill>
                        </a:rPr>
                        <a:t>가공비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333333"/>
                          </a:solidFill>
                        </a:rPr>
                        <a:t>작품전시 지원비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333333"/>
                          </a:solidFill>
                        </a:rPr>
                        <a:t>회의비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333333"/>
                          </a:solidFill>
                        </a:rPr>
                        <a:t>출장비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-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1" u="none" strike="noStrike" cap="none">
                          <a:solidFill>
                            <a:srgbClr val="333333"/>
                          </a:solidFill>
                        </a:rPr>
                        <a:t>계</a:t>
                      </a:r>
                      <a:endParaRPr/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161,452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3333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dirty="0"/>
                        <a:t>161,452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 dirty="0">
                          <a:solidFill>
                            <a:srgbClr val="333333"/>
                          </a:solidFill>
                        </a:rPr>
                        <a:t>0</a:t>
                      </a: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u="none" strike="noStrike" cap="none" dirty="0">
                        <a:solidFill>
                          <a:srgbClr val="333333"/>
                        </a:solidFill>
                      </a:endParaRPr>
                    </a:p>
                  </a:txBody>
                  <a:tcPr marL="83850" marR="83850" marT="41900" marB="41900" anchor="ctr">
                    <a:lnL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99A6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5" name="Google Shape;275;p14"/>
          <p:cNvSpPr txBox="1"/>
          <p:nvPr/>
        </p:nvSpPr>
        <p:spPr>
          <a:xfrm>
            <a:off x="10021592" y="1570295"/>
            <a:ext cx="11144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(단위 : 원)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14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/>
        </p:nvSpPr>
        <p:spPr>
          <a:xfrm>
            <a:off x="490815" y="256487"/>
            <a:ext cx="363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기대효과 및 개선방향</a:t>
            </a:r>
            <a:endParaRPr/>
          </a:p>
        </p:txBody>
      </p:sp>
      <p:sp>
        <p:nvSpPr>
          <p:cNvPr id="282" name="Google Shape;282;p15"/>
          <p:cNvSpPr txBox="1"/>
          <p:nvPr/>
        </p:nvSpPr>
        <p:spPr>
          <a:xfrm>
            <a:off x="4991351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787247" y="895350"/>
            <a:ext cx="10454494" cy="552365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2000" b="1" dirty="0"/>
              <a:t>1. </a:t>
            </a:r>
            <a:r>
              <a:rPr lang="ko-KR" altLang="en-US" sz="2000" b="1" dirty="0"/>
              <a:t>발표 피드백 반영 및 최종 보완 사항 </a:t>
            </a:r>
            <a:r>
              <a:rPr lang="en-US" altLang="ko-KR" sz="2000" b="1" dirty="0"/>
              <a:t>(Refinement based on Feedback):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ko-KR" altLang="en-US" sz="1600" dirty="0"/>
              <a:t>지난 중간 점검</a:t>
            </a:r>
            <a:r>
              <a:rPr lang="en-US" altLang="ko-KR" sz="1600" dirty="0"/>
              <a:t>(12.09) </a:t>
            </a:r>
            <a:r>
              <a:rPr lang="ko-KR" altLang="en-US" sz="1600" dirty="0"/>
              <a:t>이후</a:t>
            </a:r>
            <a:r>
              <a:rPr lang="en-US" altLang="ko-KR" sz="1600" dirty="0"/>
              <a:t>, </a:t>
            </a:r>
            <a:r>
              <a:rPr lang="ko-KR" altLang="en-US" sz="1600" dirty="0"/>
              <a:t>교수님 피드백과 내부 </a:t>
            </a:r>
            <a:r>
              <a:rPr lang="en-US" altLang="ko-KR" sz="1600" dirty="0"/>
              <a:t>QA</a:t>
            </a:r>
            <a:r>
              <a:rPr lang="ko-KR" altLang="en-US" sz="1600" dirty="0"/>
              <a:t>를 통해 발견된 미비점을 다음과 같이 기술적으로 보완하였습니다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- </a:t>
            </a:r>
            <a:r>
              <a:rPr lang="en-US" altLang="ko-KR" sz="1600" b="1" dirty="0"/>
              <a:t>AI </a:t>
            </a:r>
            <a:r>
              <a:rPr lang="ko-KR" altLang="en-US" sz="1600" b="1" dirty="0"/>
              <a:t>모델 고도화 및 최적화 </a:t>
            </a:r>
            <a:r>
              <a:rPr lang="en-US" altLang="ko-KR" sz="1600" b="1" dirty="0"/>
              <a:t>(Model Optimization)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- </a:t>
            </a:r>
            <a:r>
              <a:rPr lang="ko-KR" altLang="en-US" sz="1600" dirty="0"/>
              <a:t>기존 </a:t>
            </a:r>
            <a:r>
              <a:rPr lang="en-US" altLang="ko-KR" sz="1600" dirty="0"/>
              <a:t>Gemini 2.5 Pro</a:t>
            </a:r>
            <a:r>
              <a:rPr lang="ko-KR" altLang="en-US" sz="1600" dirty="0"/>
              <a:t>에서 </a:t>
            </a:r>
            <a:r>
              <a:rPr lang="en-US" altLang="ko-KR" sz="1600" dirty="0"/>
              <a:t>Gemini 3.0 Flash</a:t>
            </a:r>
            <a:r>
              <a:rPr lang="ko-KR" altLang="en-US" sz="1600" dirty="0"/>
              <a:t>로 핵심 엔진을 교체하여</a:t>
            </a:r>
            <a:r>
              <a:rPr lang="en-US" altLang="ko-KR" sz="1600" dirty="0"/>
              <a:t>, </a:t>
            </a:r>
            <a:r>
              <a:rPr lang="ko-KR" altLang="en-US" sz="1600" dirty="0"/>
              <a:t>추론의 정확도는 유지하되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  </a:t>
            </a:r>
            <a:r>
              <a:rPr lang="ko-KR" altLang="en-US" sz="1600" dirty="0"/>
              <a:t>응답 속도를 약 </a:t>
            </a:r>
            <a:r>
              <a:rPr lang="en-US" altLang="ko-KR" sz="1600" dirty="0"/>
              <a:t>15~20% </a:t>
            </a:r>
            <a:r>
              <a:rPr lang="ko-KR" altLang="en-US" sz="1600" dirty="0"/>
              <a:t>개선했습니다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- </a:t>
            </a:r>
            <a:r>
              <a:rPr lang="ko-KR" altLang="en-US" sz="1600" dirty="0"/>
              <a:t>확보된 시간 여유분을 활용해 프롬프트 엔지니어링을 심화 적용</a:t>
            </a:r>
            <a:r>
              <a:rPr lang="en-US" altLang="ko-KR" sz="1600" dirty="0"/>
              <a:t>, </a:t>
            </a:r>
            <a:r>
              <a:rPr lang="ko-KR" altLang="en-US" sz="1600" dirty="0"/>
              <a:t>더욱 다양한 스타일과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  </a:t>
            </a:r>
            <a:r>
              <a:rPr lang="ko-KR" altLang="en-US" sz="1600" dirty="0"/>
              <a:t>개인화된 코디 로직을 구현했습니다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- </a:t>
            </a:r>
            <a:r>
              <a:rPr lang="ko-KR" altLang="en-US" sz="1600" b="1" dirty="0"/>
              <a:t>사용자 경험</a:t>
            </a:r>
            <a:r>
              <a:rPr lang="en-US" altLang="ko-KR" sz="1600" b="1" dirty="0"/>
              <a:t>(UX) </a:t>
            </a:r>
            <a:r>
              <a:rPr lang="ko-KR" altLang="en-US" sz="1600" b="1" dirty="0"/>
              <a:t>디테일 강화</a:t>
            </a:r>
            <a:r>
              <a:rPr lang="en-US" altLang="ko-KR" sz="1600" b="1" dirty="0"/>
              <a:t>: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- </a:t>
            </a:r>
            <a:r>
              <a:rPr lang="ko-KR" altLang="en-US" sz="1600" dirty="0"/>
              <a:t>입력 편의성 개선</a:t>
            </a:r>
            <a:r>
              <a:rPr lang="en-US" altLang="ko-KR" sz="1600" dirty="0"/>
              <a:t>:</a:t>
            </a:r>
            <a:r>
              <a:rPr lang="ko-KR" altLang="en-US" sz="1600" dirty="0"/>
              <a:t> 텍스트 수동 입력 시 다음 항목으로 자동 </a:t>
            </a:r>
            <a:r>
              <a:rPr lang="ko-KR" altLang="en-US" sz="1600" dirty="0" err="1"/>
              <a:t>포커싱되는</a:t>
            </a:r>
            <a:r>
              <a:rPr lang="ko-KR" altLang="en-US" sz="1600" dirty="0"/>
              <a:t> 기능을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 </a:t>
            </a:r>
            <a:r>
              <a:rPr lang="ko-KR" altLang="en-US" sz="1600" dirty="0"/>
              <a:t> 추가하여 입력 피로도를 낮췄습니다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- </a:t>
            </a:r>
            <a:r>
              <a:rPr lang="ko-KR" altLang="en-US" sz="1600" dirty="0"/>
              <a:t>진입 장벽 완화</a:t>
            </a:r>
            <a:r>
              <a:rPr lang="en-US" altLang="ko-KR" sz="1600" dirty="0"/>
              <a:t>:</a:t>
            </a:r>
            <a:r>
              <a:rPr lang="ko-KR" altLang="en-US" sz="1600" dirty="0"/>
              <a:t> 사진 촬영 없이 텍스트 정보만으로도 의류 등록이 가능하도록 프로세스를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 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유연화했습니다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- </a:t>
            </a:r>
            <a:r>
              <a:rPr lang="ko-KR" altLang="en-US" sz="1600" b="1" dirty="0"/>
              <a:t>추천 알고리즘 예외 처리 </a:t>
            </a:r>
            <a:r>
              <a:rPr lang="en-US" altLang="ko-KR" sz="1600" b="1" dirty="0"/>
              <a:t>(Exception Handling):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- </a:t>
            </a:r>
            <a:r>
              <a:rPr lang="ko-KR" altLang="en-US" sz="1600" dirty="0"/>
              <a:t>의류 데이터가 부족한 경우에도 추천이 가능하도록</a:t>
            </a:r>
            <a:r>
              <a:rPr lang="en-US" altLang="ko-KR" sz="1600" dirty="0"/>
              <a:t>, </a:t>
            </a:r>
            <a:r>
              <a:rPr lang="ko-KR" altLang="en-US" sz="1600" dirty="0"/>
              <a:t>카테고리별 최소 </a:t>
            </a:r>
            <a:r>
              <a:rPr lang="en-US" altLang="ko-KR" sz="1600" dirty="0"/>
              <a:t>1</a:t>
            </a:r>
            <a:r>
              <a:rPr lang="ko-KR" altLang="en-US" sz="1600" dirty="0"/>
              <a:t>벌의 의류만 있어도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      </a:t>
            </a:r>
            <a:r>
              <a:rPr lang="ko-KR" altLang="en-US" sz="1600" dirty="0"/>
              <a:t> 코디를 조합하는 최소 조건 로직을 구현하고 사용자 알림 시스템을 추가했습니다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endParaRPr sz="1600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5"/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E3CBF579-4148-801A-F36E-8C5A7AE7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>
            <a:extLst>
              <a:ext uri="{FF2B5EF4-FFF2-40B4-BE49-F238E27FC236}">
                <a16:creationId xmlns:a16="http://schemas.microsoft.com/office/drawing/2014/main" id="{214A0C00-F9EC-A33E-CC0E-E8FFA9821554}"/>
              </a:ext>
            </a:extLst>
          </p:cNvPr>
          <p:cNvSpPr txBox="1"/>
          <p:nvPr/>
        </p:nvSpPr>
        <p:spPr>
          <a:xfrm>
            <a:off x="490815" y="256487"/>
            <a:ext cx="36375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rgbClr val="A99A6F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기대효과 및 개선방향</a:t>
            </a:r>
            <a:endParaRPr/>
          </a:p>
        </p:txBody>
      </p:sp>
      <p:sp>
        <p:nvSpPr>
          <p:cNvPr id="282" name="Google Shape;282;p15">
            <a:extLst>
              <a:ext uri="{FF2B5EF4-FFF2-40B4-BE49-F238E27FC236}">
                <a16:creationId xmlns:a16="http://schemas.microsoft.com/office/drawing/2014/main" id="{51315D3D-EB87-B3E6-9887-D6E0577E6ED3}"/>
              </a:ext>
            </a:extLst>
          </p:cNvPr>
          <p:cNvSpPr txBox="1"/>
          <p:nvPr/>
        </p:nvSpPr>
        <p:spPr>
          <a:xfrm>
            <a:off x="4991351" y="427472"/>
            <a:ext cx="51732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해당 챕터는 양식에 따라 작성하되 학과별로 상이할 수 있음.</a:t>
            </a:r>
            <a:endParaRPr sz="14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15">
            <a:extLst>
              <a:ext uri="{FF2B5EF4-FFF2-40B4-BE49-F238E27FC236}">
                <a16:creationId xmlns:a16="http://schemas.microsoft.com/office/drawing/2014/main" id="{9BED0BBB-8B5F-64FE-2CF8-2DD0DD6601D0}"/>
              </a:ext>
            </a:extLst>
          </p:cNvPr>
          <p:cNvSpPr/>
          <p:nvPr/>
        </p:nvSpPr>
        <p:spPr>
          <a:xfrm>
            <a:off x="787247" y="895350"/>
            <a:ext cx="10454494" cy="552365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A99A6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2000" b="1" dirty="0"/>
              <a:t>2. </a:t>
            </a:r>
            <a:r>
              <a:rPr lang="ko-KR" altLang="en-US" sz="2000" b="1" dirty="0"/>
              <a:t>기술적 및 사회적 기대효과 </a:t>
            </a:r>
            <a:r>
              <a:rPr lang="en-US" altLang="ko-KR" sz="2000" b="1" dirty="0"/>
              <a:t>(Expected Effects):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- </a:t>
            </a:r>
            <a:r>
              <a:rPr lang="en-US" altLang="ko-KR" sz="1600" b="1" dirty="0"/>
              <a:t>[</a:t>
            </a:r>
            <a:r>
              <a:rPr lang="ko-KR" altLang="en-US" sz="1600" b="1" dirty="0"/>
              <a:t>기술</a:t>
            </a:r>
            <a:r>
              <a:rPr lang="en-US" altLang="ko-KR" sz="1600" b="1" dirty="0"/>
              <a:t>] </a:t>
            </a:r>
            <a:r>
              <a:rPr lang="ko-KR" altLang="en-US" sz="1600" dirty="0"/>
              <a:t>고성능 </a:t>
            </a:r>
            <a:r>
              <a:rPr lang="en-US" altLang="ko-KR" sz="1600" dirty="0"/>
              <a:t>AI </a:t>
            </a:r>
            <a:r>
              <a:rPr lang="ko-KR" altLang="en-US" sz="1600" dirty="0"/>
              <a:t>모델의 모바일 서비스 최적화 아키텍처 제시</a:t>
            </a:r>
            <a:r>
              <a:rPr lang="en-US" altLang="ko-KR" sz="1600" dirty="0"/>
              <a:t>:</a:t>
            </a:r>
            <a:r>
              <a:rPr lang="ko-KR" altLang="en-US" sz="1600" dirty="0"/>
              <a:t> 고비용</a:t>
            </a:r>
            <a:r>
              <a:rPr lang="en-US" altLang="ko-KR" sz="1600" dirty="0"/>
              <a:t>·</a:t>
            </a:r>
            <a:r>
              <a:rPr lang="ko-KR" altLang="en-US" sz="1600" dirty="0"/>
              <a:t>고지연</a:t>
            </a:r>
            <a:r>
              <a:rPr lang="en-US" altLang="ko-KR" sz="1600" dirty="0"/>
              <a:t>(Latency) </a:t>
            </a:r>
            <a:r>
              <a:rPr lang="ko-KR" altLang="en-US" sz="1600" dirty="0"/>
              <a:t>특성을 가진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</a:t>
            </a:r>
            <a:r>
              <a:rPr lang="ko-KR" altLang="en-US" sz="1600" dirty="0"/>
              <a:t>생성형 </a:t>
            </a:r>
            <a:r>
              <a:rPr lang="en-US" altLang="ko-KR" sz="1600" dirty="0"/>
              <a:t>AI </a:t>
            </a:r>
            <a:r>
              <a:rPr lang="ko-KR" altLang="en-US" sz="1600" dirty="0"/>
              <a:t>모델을 모바일 환경에 적용하기 위해</a:t>
            </a:r>
            <a:r>
              <a:rPr lang="en-US" altLang="ko-KR" sz="1600" dirty="0"/>
              <a:t>, Flash(</a:t>
            </a:r>
            <a:r>
              <a:rPr lang="ko-KR" altLang="en-US" sz="1600" dirty="0"/>
              <a:t>속도</a:t>
            </a:r>
            <a:r>
              <a:rPr lang="en-US" altLang="ko-KR" sz="1600" dirty="0"/>
              <a:t>)</a:t>
            </a:r>
            <a:r>
              <a:rPr lang="ko-KR" altLang="en-US" sz="1600" dirty="0"/>
              <a:t>와 </a:t>
            </a:r>
            <a:r>
              <a:rPr lang="en-US" altLang="ko-KR" sz="1600" dirty="0"/>
              <a:t>Pro(</a:t>
            </a:r>
            <a:r>
              <a:rPr lang="ko-KR" altLang="en-US" sz="1600" dirty="0"/>
              <a:t>품질</a:t>
            </a:r>
            <a:r>
              <a:rPr lang="en-US" altLang="ko-KR" sz="1600" dirty="0"/>
              <a:t>) </a:t>
            </a:r>
            <a:r>
              <a:rPr lang="ko-KR" altLang="en-US" sz="1600" dirty="0"/>
              <a:t>모델을 이원화한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</a:t>
            </a:r>
            <a:r>
              <a:rPr lang="ko-KR" altLang="en-US" sz="1600" dirty="0"/>
              <a:t>하이브리드 파이프라인을 구축했습니다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이를 통해 </a:t>
            </a:r>
            <a:r>
              <a:rPr lang="en-US" altLang="ko-KR" sz="1600" dirty="0"/>
              <a:t>AI </a:t>
            </a:r>
            <a:r>
              <a:rPr lang="ko-KR" altLang="en-US" sz="1600" dirty="0"/>
              <a:t>도입의 가장 큰 장벽인 </a:t>
            </a:r>
            <a:r>
              <a:rPr lang="en-US" altLang="ko-KR" sz="1600" dirty="0"/>
              <a:t>'</a:t>
            </a:r>
            <a:r>
              <a:rPr lang="ko-KR" altLang="en-US" sz="1600" dirty="0"/>
              <a:t>응답 속도 문제</a:t>
            </a:r>
            <a:r>
              <a:rPr lang="en-US" altLang="ko-KR" sz="1600" dirty="0"/>
              <a:t>’</a:t>
            </a:r>
            <a:r>
              <a:rPr lang="ko-KR" altLang="en-US" sz="1600" dirty="0"/>
              <a:t>를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</a:t>
            </a:r>
            <a:r>
              <a:rPr lang="ko-KR" altLang="en-US" sz="1600" dirty="0"/>
              <a:t>기술적으로 해결하고 상용 서비스 수준의 사용성을 확보했습니다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sz="160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- </a:t>
            </a:r>
            <a:r>
              <a:rPr lang="en-US" altLang="ko-KR" sz="1600" b="1" dirty="0"/>
              <a:t>[</a:t>
            </a:r>
            <a:r>
              <a:rPr lang="ko-KR" altLang="en-US" sz="1600" b="1" dirty="0"/>
              <a:t>사회</a:t>
            </a:r>
            <a:r>
              <a:rPr lang="en-US" altLang="ko-KR" sz="1600" b="1" dirty="0"/>
              <a:t>] </a:t>
            </a:r>
            <a:r>
              <a:rPr lang="ko-KR" altLang="en-US" sz="1600" dirty="0"/>
              <a:t>지속 가능한 패션 생태계 조성</a:t>
            </a:r>
            <a:r>
              <a:rPr lang="en-US" altLang="ko-KR" sz="1600" dirty="0"/>
              <a:t>:</a:t>
            </a:r>
            <a:r>
              <a:rPr lang="ko-KR" altLang="en-US" sz="1600" dirty="0"/>
              <a:t> 사용자가 보유한 옷의 활용도를 극대화하여 불필요한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</a:t>
            </a:r>
            <a:r>
              <a:rPr lang="ko-KR" altLang="en-US" sz="1600" dirty="0"/>
              <a:t>중복 구매를 방지하고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의류 폐기물 감소에 기여하는 친환경적 가치를 창출합니다</a:t>
            </a:r>
            <a:r>
              <a:rPr lang="en-US" altLang="ko-KR" sz="1600" dirty="0"/>
              <a:t>.</a:t>
            </a:r>
          </a:p>
          <a:p>
            <a:pPr marL="101600" lvl="0">
              <a:buClr>
                <a:schemeClr val="dk1"/>
              </a:buClr>
              <a:buSzPts val="1600"/>
            </a:pPr>
            <a:endParaRPr lang="en-US" sz="1600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2000" b="1" dirty="0"/>
              <a:t>3. </a:t>
            </a:r>
            <a:r>
              <a:rPr lang="ko-KR" altLang="en-US" sz="2000" b="1" dirty="0"/>
              <a:t>향후 발전 방향 </a:t>
            </a:r>
            <a:r>
              <a:rPr lang="en-US" altLang="ko-KR" sz="2000" b="1" dirty="0"/>
              <a:t>(Future Works)</a:t>
            </a:r>
          </a:p>
          <a:p>
            <a:pPr marL="101600" lvl="0">
              <a:buClr>
                <a:schemeClr val="dk1"/>
              </a:buClr>
              <a:buSzPts val="1600"/>
            </a:pPr>
            <a:r>
              <a:rPr lang="en-US" sz="1600" dirty="0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- </a:t>
            </a:r>
            <a:r>
              <a:rPr lang="ko-KR" altLang="en-US" sz="1600" dirty="0"/>
              <a:t>소셜 </a:t>
            </a:r>
            <a:r>
              <a:rPr lang="ko-KR" altLang="en-US" sz="1600"/>
              <a:t>스타일링 커뮤니티구축</a:t>
            </a:r>
            <a:r>
              <a:rPr lang="en-US" altLang="ko-KR" sz="1600" dirty="0"/>
              <a:t>:</a:t>
            </a:r>
            <a:r>
              <a:rPr lang="ko-KR" altLang="en-US" sz="1600" dirty="0"/>
              <a:t> 개인의 옷장 관리를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생성된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</a:t>
            </a:r>
            <a:r>
              <a:rPr lang="ko-KR" altLang="en-US" sz="1600" dirty="0"/>
              <a:t>가상 피팅 결과물</a:t>
            </a:r>
            <a:r>
              <a:rPr lang="en-US" altLang="ko-KR" sz="1600" dirty="0"/>
              <a:t>(OOTD)</a:t>
            </a:r>
            <a:r>
              <a:rPr lang="ko-KR" altLang="en-US" sz="1600" dirty="0"/>
              <a:t>을 다른 사용자들과 공유하고 상호 작용</a:t>
            </a:r>
            <a:r>
              <a:rPr lang="en-US" altLang="ko-KR" sz="1600" dirty="0"/>
              <a:t>(</a:t>
            </a:r>
            <a:r>
              <a:rPr lang="ko-KR" altLang="en-US" sz="1600" dirty="0"/>
              <a:t>좋아요</a:t>
            </a:r>
            <a:r>
              <a:rPr lang="en-US" altLang="ko-KR" sz="1600" dirty="0"/>
              <a:t>, </a:t>
            </a:r>
            <a:r>
              <a:rPr lang="ko-KR" altLang="en-US" sz="1600" dirty="0"/>
              <a:t>스크랩</a:t>
            </a:r>
            <a:r>
              <a:rPr lang="en-US" altLang="ko-KR" sz="1600" dirty="0"/>
              <a:t>)</a:t>
            </a:r>
            <a:r>
              <a:rPr lang="ko-KR" altLang="en-US" sz="1600" dirty="0"/>
              <a:t>할 수 있는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</a:t>
            </a:r>
            <a:r>
              <a:rPr lang="ko-KR" altLang="en-US" sz="1600" dirty="0"/>
              <a:t>소셜 네트워크 기능을 도입할 예정입니다</a:t>
            </a:r>
            <a:r>
              <a:rPr lang="en-US" altLang="ko-KR" sz="1600" dirty="0"/>
              <a:t>. </a:t>
            </a:r>
            <a:r>
              <a:rPr lang="ko-KR" altLang="en-US" sz="1600" dirty="0"/>
              <a:t>이를 통해 사용자가 자발적으로 콘텐츠를 생산하고 </a:t>
            </a:r>
            <a:endParaRPr lang="en-US" altLang="ko-KR" sz="1600" dirty="0"/>
          </a:p>
          <a:p>
            <a:pPr marL="101600" lvl="0">
              <a:buClr>
                <a:schemeClr val="dk1"/>
              </a:buClr>
              <a:buSzPts val="1600"/>
            </a:pPr>
            <a:r>
              <a:rPr lang="en-US" altLang="ko-KR" sz="1600" dirty="0"/>
              <a:t>       </a:t>
            </a:r>
            <a:r>
              <a:rPr lang="ko-KR" altLang="en-US" sz="1600" dirty="0"/>
              <a:t>트렌드를 공유하는 참여형 패션 플랫폼으로의 확장을 도모합니다</a:t>
            </a:r>
            <a:r>
              <a:rPr lang="en-US" altLang="ko-KR" sz="1600" dirty="0"/>
              <a:t>.</a:t>
            </a:r>
            <a:endParaRPr sz="1600" dirty="0">
              <a:solidFill>
                <a:srgbClr val="3333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p15">
            <a:extLst>
              <a:ext uri="{FF2B5EF4-FFF2-40B4-BE49-F238E27FC236}">
                <a16:creationId xmlns:a16="http://schemas.microsoft.com/office/drawing/2014/main" id="{D9BE45E7-82B6-F525-8ED0-93EEE86BCA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43609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27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6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4368085" y="1319909"/>
            <a:ext cx="3455824" cy="324780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 txBox="1"/>
          <p:nvPr/>
        </p:nvSpPr>
        <p:spPr>
          <a:xfrm>
            <a:off x="4593021" y="4567713"/>
            <a:ext cx="300595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400" b="1">
                <a:solidFill>
                  <a:srgbClr val="3333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/>
          </a:p>
        </p:txBody>
      </p:sp>
      <p:sp>
        <p:nvSpPr>
          <p:cNvPr id="298" name="Google Shape;298;p16"/>
          <p:cNvSpPr txBox="1">
            <a:spLocks noGrp="1"/>
          </p:cNvSpPr>
          <p:nvPr>
            <p:ph type="sldNum" idx="12"/>
          </p:nvPr>
        </p:nvSpPr>
        <p:spPr>
          <a:xfrm>
            <a:off x="8956829" y="640935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2923</Words>
  <Application>Microsoft Office PowerPoint</Application>
  <PresentationFormat>와이드스크린</PresentationFormat>
  <Paragraphs>376</Paragraphs>
  <Slides>17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Malgun Gothic</vt:lpstr>
      <vt:lpstr>Arial</vt:lpstr>
      <vt:lpstr>Office 테마</vt:lpstr>
      <vt:lpstr>PowerPoint 프레젠테이션</vt:lpstr>
      <vt:lpstr>팀별 결과보고서 작성 지침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소연 박</dc:creator>
  <cp:lastModifiedBy>Siwoo Park</cp:lastModifiedBy>
  <cp:revision>6</cp:revision>
  <dcterms:created xsi:type="dcterms:W3CDTF">2024-08-21T07:58:29Z</dcterms:created>
  <dcterms:modified xsi:type="dcterms:W3CDTF">2025-12-22T04:33:44Z</dcterms:modified>
</cp:coreProperties>
</file>